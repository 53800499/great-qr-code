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 id="261" r:id="rId13"/>
    <p:sldId id="262" r:id="rId12"/>
    <p:sldId id="263" r:id="rId19"/>
    <p:sldId id="264" r:id="rId20"/>
    <p:sldId id="265" r:id="rId21"/>
  </p:sldIdLst>
  <p:sldSz cx="12192000" cy="6858000"/>
  <p:notesSz cx="6858000" cy="12192000"/>
  <p:embeddedFontLst>
    <p:embeddedFont>
      <p:font typeface="Poppins" pitchFamily="2"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4" roundtripDataSignature="AMtx7miYpnWfYS+k6Gljz3BtX+e3zAyPm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font" Target="fonts/font1.fntdata"/><Relationship Id="rId9" Type="http://schemas.openxmlformats.org/officeDocument/2006/relationships/font" Target="fonts/font2.fntdata"/><Relationship Id="rId10" Type="http://schemas.openxmlformats.org/officeDocument/2006/relationships/font" Target="fonts/font3.fntdata"/><Relationship Id="rId11" Type="http://schemas.openxmlformats.org/officeDocument/2006/relationships/font" Target="fonts/font4.fntdata"/><Relationship Id="rId12" Type="http://schemas.openxmlformats.org/officeDocument/2006/relationships/slide" Target="slides/slide7.xml"/><Relationship Id="rId13" Type="http://schemas.openxmlformats.org/officeDocument/2006/relationships/slide" Target="slides/slide6.xml"/><Relationship Id="rId14" Type="http://customschemas.google.com/relationships/presentationmetadata" Target="metadata"/><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6111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6111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11580813"/>
            <a:ext cx="2971800" cy="6111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11580813"/>
            <a:ext cx="2971800" cy="6111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‹N°›</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11580813"/>
            <a:ext cx="2971800" cy="6111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2:notes"/>
          <p:cNvSpPr>
            <a:spLocks noGrp="1" noRot="1" noChangeAspect="1"/>
          </p:cNvSpPr>
          <p:nvPr>
            <p:ph type="sldImg" idx="2"/>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 name="Google Shape;58;p2:notes"/>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 name="Google Shape;59;p2:notes"/>
          <p:cNvSpPr txBox="1">
            <a:spLocks noGrp="1"/>
          </p:cNvSpPr>
          <p:nvPr>
            <p:ph type="sldNum" idx="12"/>
          </p:nvPr>
        </p:nvSpPr>
        <p:spPr>
          <a:xfrm>
            <a:off x="3884613" y="11580813"/>
            <a:ext cx="2971800" cy="6111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a:spLocks noGrp="1" noRot="1" noChangeAspect="1"/>
          </p:cNvSpPr>
          <p:nvPr>
            <p:ph type="sldImg" idx="2"/>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3:notes"/>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3:notes"/>
          <p:cNvSpPr txBox="1">
            <a:spLocks noGrp="1"/>
          </p:cNvSpPr>
          <p:nvPr>
            <p:ph type="sldNum" idx="12"/>
          </p:nvPr>
        </p:nvSpPr>
        <p:spPr>
          <a:xfrm>
            <a:off x="3884613" y="11580813"/>
            <a:ext cx="2971800" cy="6111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4:notes"/>
          <p:cNvSpPr>
            <a:spLocks noGrp="1" noRot="1" noChangeAspect="1"/>
          </p:cNvSpPr>
          <p:nvPr>
            <p:ph type="sldImg" idx="2"/>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p4:notes"/>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4:notes"/>
          <p:cNvSpPr txBox="1">
            <a:spLocks noGrp="1"/>
          </p:cNvSpPr>
          <p:nvPr>
            <p:ph type="sldNum" idx="12"/>
          </p:nvPr>
        </p:nvSpPr>
        <p:spPr>
          <a:xfrm>
            <a:off x="3884613" y="11580813"/>
            <a:ext cx="2971800" cy="6111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5:notes"/>
          <p:cNvSpPr>
            <a:spLocks noGrp="1" noRot="1" noChangeAspect="1"/>
          </p:cNvSpPr>
          <p:nvPr>
            <p:ph type="sldImg" idx="2"/>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5:notes"/>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5:notes"/>
          <p:cNvSpPr txBox="1">
            <a:spLocks noGrp="1"/>
          </p:cNvSpPr>
          <p:nvPr>
            <p:ph type="sldNum" idx="12"/>
          </p:nvPr>
        </p:nvSpPr>
        <p:spPr>
          <a:xfrm>
            <a:off x="3884613" y="11580813"/>
            <a:ext cx="2971800" cy="6111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
        <p:cNvGrpSpPr/>
        <p:nvPr/>
      </p:nvGrpSpPr>
      <p:grpSpPr>
        <a:xfrm>
          <a:off x="0" y="0"/>
          <a:ext cx="0" cy="0"/>
          <a:chOff x="0" y="0"/>
          <a:chExt cx="0" cy="0"/>
        </a:xfrm>
      </p:grpSpPr>
      <p:sp>
        <p:nvSpPr>
          <p:cNvPr id="16" name="Google Shape;16;p1"/>
          <p:cNvSpPr/>
          <p:nvPr/>
        </p:nvSpPr>
        <p:spPr>
          <a:xfrm>
            <a:off x="457200" y="228600"/>
            <a:ext cx="1124712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8078"/>
              </a:buClr>
              <a:buSzPts val="1300"/>
              <a:buFont typeface="Georgia"/>
              <a:buNone/>
            </a:pPr>
            <a:r>
              <a:rPr lang="en-US" sz="1300" i="0" u="none" strike="noStrike" cap="none">
                <a:solidFill>
                  <a:schemeClr val="dk1"/>
                </a:solidFill>
                <a:latin typeface="Times New Roman"/>
                <a:ea typeface="Times New Roman"/>
                <a:cs typeface="Times New Roman"/>
                <a:sym typeface="Times New Roman"/>
              </a:rPr>
              <a:t>1. Ticket Standard « Solidaire »</a:t>
            </a:r>
            <a:endParaRPr sz="1300" i="0" u="none" strike="noStrike" cap="none">
              <a:solidFill>
                <a:schemeClr val="dk1"/>
              </a:solidFill>
              <a:latin typeface="Times New Roman"/>
              <a:ea typeface="Times New Roman"/>
              <a:cs typeface="Times New Roman"/>
              <a:sym typeface="Times New Roman"/>
            </a:endParaRPr>
          </a:p>
        </p:txBody>
      </p:sp>
      <p:sp>
        <p:nvSpPr>
          <p:cNvPr id="17" name="Google Shape;17;p1"/>
          <p:cNvSpPr/>
          <p:nvPr/>
        </p:nvSpPr>
        <p:spPr>
          <a:xfrm>
            <a:off x="457200" y="777240"/>
            <a:ext cx="7863840" cy="5120640"/>
          </a:xfrm>
          <a:prstGeom prst="roundRect">
            <a:avLst>
              <a:gd name="adj" fmla="val 2143"/>
            </a:avLst>
          </a:prstGeom>
          <a:solidFill>
            <a:srgbClr val="FBF3EC"/>
          </a:solidFill>
          <a:ln>
            <a:noFill/>
          </a:ln>
          <a:effectLst>
            <a:outerShdw blurRad="228600" dist="76200" dir="5400000" algn="bl" rotWithShape="0">
              <a:srgbClr val="000000">
                <a:alpha val="3490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1"/>
          <p:cNvSpPr/>
          <p:nvPr/>
        </p:nvSpPr>
        <p:spPr>
          <a:xfrm>
            <a:off x="8183880" y="777240"/>
            <a:ext cx="3520500" cy="5120700"/>
          </a:xfrm>
          <a:prstGeom prst="roundRect">
            <a:avLst>
              <a:gd name="adj" fmla="val 3117"/>
            </a:avLst>
          </a:prstGeom>
          <a:solidFill>
            <a:srgbClr val="F4C6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1"/>
          <p:cNvSpPr/>
          <p:nvPr/>
        </p:nvSpPr>
        <p:spPr>
          <a:xfrm>
            <a:off x="8174736" y="886968"/>
            <a:ext cx="164592" cy="4901184"/>
          </a:xfrm>
          <a:prstGeom prst="rect">
            <a:avLst/>
          </a:prstGeom>
          <a:solidFill>
            <a:srgbClr val="FBF3EC"/>
          </a:solidFill>
          <a:ln w="12700" cap="flat" cmpd="sng">
            <a:solidFill>
              <a:srgbClr val="FBF3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 name="Google Shape;20;p1"/>
          <p:cNvCxnSpPr/>
          <p:nvPr/>
        </p:nvCxnSpPr>
        <p:spPr>
          <a:xfrm>
            <a:off x="8321040" y="777240"/>
            <a:ext cx="0" cy="5120640"/>
          </a:xfrm>
          <a:prstGeom prst="straightConnector1">
            <a:avLst/>
          </a:prstGeom>
          <a:noFill/>
          <a:ln w="19050" cap="flat" cmpd="sng">
            <a:solidFill>
              <a:srgbClr val="FFFFFF">
                <a:alpha val="70196"/>
              </a:srgbClr>
            </a:solidFill>
            <a:prstDash val="dash"/>
            <a:round/>
            <a:headEnd type="none" w="sm" len="sm"/>
            <a:tailEnd type="none" w="sm" len="sm"/>
          </a:ln>
        </p:spPr>
      </p:cxnSp>
      <p:sp>
        <p:nvSpPr>
          <p:cNvPr id="21" name="Google Shape;21;p1"/>
          <p:cNvSpPr/>
          <p:nvPr/>
        </p:nvSpPr>
        <p:spPr>
          <a:xfrm>
            <a:off x="8193024" y="649224"/>
            <a:ext cx="256032" cy="256032"/>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1"/>
          <p:cNvSpPr/>
          <p:nvPr/>
        </p:nvSpPr>
        <p:spPr>
          <a:xfrm>
            <a:off x="8193024" y="5769864"/>
            <a:ext cx="256032" cy="256032"/>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 name="Google Shape;23;p1" descr="/home/claude/gala/pptx/ribbon_pink.png"/>
          <p:cNvPicPr preferRelativeResize="0"/>
          <p:nvPr/>
        </p:nvPicPr>
        <p:blipFill rotWithShape="1">
          <a:blip r:embed="rId3">
            <a:alphaModFix/>
          </a:blip>
          <a:srcRect/>
          <a:stretch/>
        </p:blipFill>
        <p:spPr>
          <a:xfrm>
            <a:off x="777240" y="1051560"/>
            <a:ext cx="201168" cy="265176"/>
          </a:xfrm>
          <a:prstGeom prst="rect">
            <a:avLst/>
          </a:prstGeom>
          <a:noFill/>
          <a:ln>
            <a:noFill/>
          </a:ln>
        </p:spPr>
      </p:pic>
      <p:sp>
        <p:nvSpPr>
          <p:cNvPr id="24" name="Google Shape;24;p1"/>
          <p:cNvSpPr/>
          <p:nvPr/>
        </p:nvSpPr>
        <p:spPr>
          <a:xfrm>
            <a:off x="1051560" y="996696"/>
            <a:ext cx="3657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41C1C"/>
              </a:buClr>
              <a:buSzPts val="1400"/>
              <a:buFont typeface="Georgia"/>
              <a:buNone/>
            </a:pPr>
            <a:r>
              <a:rPr lang="en-US" sz="1400" b="0" i="1" u="none" strike="noStrike" cap="none">
                <a:solidFill>
                  <a:srgbClr val="241C1C"/>
                </a:solidFill>
                <a:latin typeface="Georgia"/>
                <a:ea typeface="Georgia"/>
                <a:cs typeface="Georgia"/>
                <a:sym typeface="Georgia"/>
              </a:rPr>
              <a:t>Cœur en Rose</a:t>
            </a:r>
            <a:endParaRPr sz="1400" b="0" i="0" u="none" strike="noStrike" cap="none">
              <a:solidFill>
                <a:schemeClr val="dk1"/>
              </a:solidFill>
              <a:latin typeface="Calibri"/>
              <a:ea typeface="Calibri"/>
              <a:cs typeface="Calibri"/>
              <a:sym typeface="Calibri"/>
            </a:endParaRPr>
          </a:p>
        </p:txBody>
      </p:sp>
      <p:sp>
        <p:nvSpPr>
          <p:cNvPr id="25" name="Google Shape;25;p1"/>
          <p:cNvSpPr/>
          <p:nvPr/>
        </p:nvSpPr>
        <p:spPr>
          <a:xfrm>
            <a:off x="1051560" y="1271016"/>
            <a:ext cx="6949440"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41C1C"/>
              </a:buClr>
              <a:buSzPts val="800"/>
              <a:buFont typeface="Poppins"/>
              <a:buNone/>
            </a:pPr>
            <a:r>
              <a:rPr lang="en-US" sz="800" b="0" i="0" u="none" strike="noStrike" cap="none">
                <a:solidFill>
                  <a:srgbClr val="241C1C"/>
                </a:solidFill>
                <a:latin typeface="Poppins"/>
                <a:ea typeface="Poppins"/>
                <a:cs typeface="Poppins"/>
                <a:sym typeface="Poppins"/>
              </a:rPr>
              <a:t>GALA SOLIDAIRE · COTONOU · OCT. 2026</a:t>
            </a:r>
            <a:endParaRPr sz="800" b="0" i="0" u="none" strike="noStrike" cap="none">
              <a:solidFill>
                <a:schemeClr val="dk1"/>
              </a:solidFill>
              <a:latin typeface="Calibri"/>
              <a:ea typeface="Calibri"/>
              <a:cs typeface="Calibri"/>
              <a:sym typeface="Calibri"/>
            </a:endParaRPr>
          </a:p>
        </p:txBody>
      </p:sp>
      <p:sp>
        <p:nvSpPr>
          <p:cNvPr id="26" name="Google Shape;26;p1"/>
          <p:cNvSpPr/>
          <p:nvPr/>
        </p:nvSpPr>
        <p:spPr>
          <a:xfrm>
            <a:off x="777240" y="1645920"/>
            <a:ext cx="722376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41C1C"/>
              </a:buClr>
              <a:buSzPts val="3000"/>
              <a:buFont typeface="Georgia"/>
              <a:buNone/>
            </a:pPr>
            <a:r>
              <a:rPr lang="en-US" sz="3000" b="0" i="1" u="none" strike="noStrike" cap="none">
                <a:solidFill>
                  <a:srgbClr val="241C1C"/>
                </a:solidFill>
                <a:latin typeface="Georgia"/>
                <a:ea typeface="Georgia"/>
                <a:cs typeface="Georgia"/>
                <a:sym typeface="Georgia"/>
              </a:rPr>
              <a:t>Solidaire</a:t>
            </a:r>
            <a:endParaRPr sz="3000" b="0" i="0" u="none" strike="noStrike" cap="none">
              <a:solidFill>
                <a:schemeClr val="dk1"/>
              </a:solidFill>
              <a:latin typeface="Calibri"/>
              <a:ea typeface="Calibri"/>
              <a:cs typeface="Calibri"/>
              <a:sym typeface="Calibri"/>
            </a:endParaRPr>
          </a:p>
        </p:txBody>
      </p:sp>
      <p:sp>
        <p:nvSpPr>
          <p:cNvPr id="27" name="Google Shape;27;p1"/>
          <p:cNvSpPr/>
          <p:nvPr/>
        </p:nvSpPr>
        <p:spPr>
          <a:xfrm>
            <a:off x="777240" y="2167128"/>
            <a:ext cx="740664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41C1C"/>
              </a:buClr>
              <a:buSzPts val="1000"/>
              <a:buFont typeface="Poppins"/>
              <a:buNone/>
            </a:pPr>
            <a:r>
              <a:rPr lang="en-US" sz="1000" b="0" i="0" u="none" strike="noStrike" cap="none">
                <a:solidFill>
                  <a:srgbClr val="241C1C"/>
                </a:solidFill>
                <a:latin typeface="Poppins"/>
                <a:ea typeface="Poppins"/>
                <a:cs typeface="Poppins"/>
                <a:sym typeface="Poppins"/>
              </a:rPr>
              <a:t>TICKET INDIVIDUEL</a:t>
            </a:r>
            <a:endParaRPr sz="1000" b="0" i="0" u="none" strike="noStrike" cap="none">
              <a:solidFill>
                <a:schemeClr val="dk1"/>
              </a:solidFill>
              <a:latin typeface="Calibri"/>
              <a:ea typeface="Calibri"/>
              <a:cs typeface="Calibri"/>
              <a:sym typeface="Calibri"/>
            </a:endParaRPr>
          </a:p>
        </p:txBody>
      </p:sp>
      <p:sp>
        <p:nvSpPr>
          <p:cNvPr id="28" name="Google Shape;28;p1"/>
          <p:cNvSpPr/>
          <p:nvPr/>
        </p:nvSpPr>
        <p:spPr>
          <a:xfrm>
            <a:off x="777240" y="2606040"/>
            <a:ext cx="7223760" cy="237744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241C1C"/>
              </a:buClr>
              <a:buSzPts val="1200"/>
              <a:buFont typeface="Poppins"/>
              <a:buChar char="—"/>
            </a:pPr>
            <a:r>
              <a:rPr lang="en-US" sz="1200" b="0" i="0" u="none" strike="noStrike" cap="none">
                <a:solidFill>
                  <a:srgbClr val="241C1C"/>
                </a:solidFill>
                <a:latin typeface="Poppins"/>
                <a:ea typeface="Poppins"/>
                <a:cs typeface="Poppins"/>
                <a:sym typeface="Poppins"/>
              </a:rPr>
              <a:t>Accès au dîner-gala et à l'animation</a:t>
            </a:r>
            <a:endParaRPr sz="12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241C1C"/>
              </a:buClr>
              <a:buSzPts val="1200"/>
              <a:buFont typeface="Poppins"/>
              <a:buChar char="—"/>
            </a:pPr>
            <a:r>
              <a:rPr lang="en-US" sz="1200" b="0" i="0" u="none" strike="noStrike" cap="none">
                <a:solidFill>
                  <a:srgbClr val="241C1C"/>
                </a:solidFill>
                <a:latin typeface="Poppins"/>
                <a:ea typeface="Poppins"/>
                <a:cs typeface="Poppins"/>
                <a:sym typeface="Poppins"/>
              </a:rPr>
              <a:t>Accès à l'espace de sensibilisation</a:t>
            </a:r>
            <a:endParaRPr sz="12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241C1C"/>
              </a:buClr>
              <a:buSzPts val="1200"/>
              <a:buFont typeface="Poppins"/>
              <a:buChar char="—"/>
            </a:pPr>
            <a:r>
              <a:rPr lang="en-US" sz="1200" b="0" i="0" u="none" strike="noStrike" cap="none">
                <a:solidFill>
                  <a:srgbClr val="241C1C"/>
                </a:solidFill>
                <a:latin typeface="Poppins"/>
                <a:ea typeface="Poppins"/>
                <a:cs typeface="Poppins"/>
                <a:sym typeface="Poppins"/>
              </a:rPr>
              <a:t>Un ruban à nouer à l'Arbre de l'Espoir</a:t>
            </a:r>
            <a:endParaRPr sz="12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241C1C"/>
              </a:buClr>
              <a:buSzPts val="1200"/>
              <a:buFont typeface="Poppins"/>
              <a:buChar char="—"/>
            </a:pPr>
            <a:r>
              <a:rPr lang="en-US" sz="1200" b="0" i="0" u="none" strike="noStrike" cap="none">
                <a:solidFill>
                  <a:srgbClr val="241C1C"/>
                </a:solidFill>
                <a:latin typeface="Poppins"/>
                <a:ea typeface="Poppins"/>
                <a:cs typeface="Poppins"/>
                <a:sym typeface="Poppins"/>
              </a:rPr>
              <a:t>Participation à la minute de lumière rose</a:t>
            </a:r>
            <a:endParaRPr sz="12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241C1C"/>
              </a:buClr>
              <a:buSzPts val="1200"/>
              <a:buFont typeface="Poppins"/>
              <a:buChar char="—"/>
            </a:pPr>
            <a:r>
              <a:rPr lang="en-US" sz="1200" b="0" i="0" u="none" strike="noStrike" cap="none">
                <a:solidFill>
                  <a:srgbClr val="241C1C"/>
                </a:solidFill>
                <a:latin typeface="Poppins"/>
                <a:ea typeface="Poppins"/>
                <a:cs typeface="Poppins"/>
                <a:sym typeface="Poppins"/>
              </a:rPr>
              <a:t>Accès au photobooth de la soirée</a:t>
            </a:r>
            <a:endParaRPr sz="1200" b="0" i="0" u="none" strike="noStrike" cap="none">
              <a:solidFill>
                <a:schemeClr val="dk1"/>
              </a:solidFill>
              <a:latin typeface="Calibri"/>
              <a:ea typeface="Calibri"/>
              <a:cs typeface="Calibri"/>
              <a:sym typeface="Calibri"/>
            </a:endParaRPr>
          </a:p>
        </p:txBody>
      </p:sp>
      <p:sp>
        <p:nvSpPr>
          <p:cNvPr id="29" name="Google Shape;29;p1"/>
          <p:cNvSpPr/>
          <p:nvPr/>
        </p:nvSpPr>
        <p:spPr>
          <a:xfrm>
            <a:off x="777240" y="5486400"/>
            <a:ext cx="5111496"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41C1C"/>
              </a:buClr>
              <a:buSzPts val="800"/>
              <a:buFont typeface="Poppins"/>
              <a:buNone/>
            </a:pPr>
            <a:r>
              <a:rPr lang="en-US" sz="800" b="0" i="0" u="none" strike="noStrike" cap="none">
                <a:solidFill>
                  <a:srgbClr val="241C1C"/>
                </a:solidFill>
                <a:latin typeface="Poppins"/>
                <a:ea typeface="Poppins"/>
                <a:cs typeface="Poppins"/>
                <a:sym typeface="Poppins"/>
              </a:rPr>
              <a:t>UN DON, UN EXAMEN, UNE VIE SAUVÉE</a:t>
            </a:r>
            <a:endParaRPr sz="800" b="0" i="0" u="none" strike="noStrike" cap="none">
              <a:solidFill>
                <a:schemeClr val="dk1"/>
              </a:solidFill>
              <a:latin typeface="Calibri"/>
              <a:ea typeface="Calibri"/>
              <a:cs typeface="Calibri"/>
              <a:sym typeface="Calibri"/>
            </a:endParaRPr>
          </a:p>
        </p:txBody>
      </p:sp>
      <p:sp>
        <p:nvSpPr>
          <p:cNvPr id="30" name="Google Shape;30;p1"/>
          <p:cNvSpPr/>
          <p:nvPr/>
        </p:nvSpPr>
        <p:spPr>
          <a:xfrm>
            <a:off x="5669280" y="5486400"/>
            <a:ext cx="233172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241C1C"/>
              </a:buClr>
              <a:buSzPts val="800"/>
              <a:buFont typeface="Poppins"/>
              <a:buNone/>
            </a:pPr>
            <a:r>
              <a:rPr lang="en-US" sz="800" b="0" i="0" u="none" strike="noStrike" cap="none">
                <a:solidFill>
                  <a:srgbClr val="241C1C"/>
                </a:solidFill>
                <a:latin typeface="Poppins"/>
                <a:ea typeface="Poppins"/>
                <a:cs typeface="Poppins"/>
                <a:sym typeface="Poppins"/>
              </a:rPr>
              <a:t>BILLET N° ______</a:t>
            </a:r>
            <a:endParaRPr sz="800" b="0" i="0" u="none" strike="noStrike" cap="none">
              <a:solidFill>
                <a:schemeClr val="dk1"/>
              </a:solidFill>
              <a:latin typeface="Calibri"/>
              <a:ea typeface="Calibri"/>
              <a:cs typeface="Calibri"/>
              <a:sym typeface="Calibri"/>
            </a:endParaRPr>
          </a:p>
        </p:txBody>
      </p:sp>
      <p:sp>
        <p:nvSpPr>
          <p:cNvPr id="31" name="Google Shape;31;p1"/>
          <p:cNvSpPr/>
          <p:nvPr/>
        </p:nvSpPr>
        <p:spPr>
          <a:xfrm>
            <a:off x="8458200" y="1097280"/>
            <a:ext cx="329184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41C1C"/>
              </a:buClr>
              <a:buSzPts val="1100"/>
              <a:buFont typeface="Georgia"/>
              <a:buNone/>
            </a:pPr>
            <a:r>
              <a:rPr lang="en-US" sz="1100" b="0" i="1" u="none" strike="noStrike" cap="none">
                <a:solidFill>
                  <a:srgbClr val="241C1C"/>
                </a:solidFill>
                <a:latin typeface="Georgia"/>
                <a:ea typeface="Georgia"/>
                <a:cs typeface="Georgia"/>
                <a:sym typeface="Georgia"/>
              </a:rPr>
              <a:t>SOLIDAIRE</a:t>
            </a:r>
            <a:endParaRPr sz="1100" b="0" i="0" u="none" strike="noStrike" cap="none">
              <a:solidFill>
                <a:schemeClr val="dk1"/>
              </a:solidFill>
              <a:latin typeface="Calibri"/>
              <a:ea typeface="Calibri"/>
              <a:cs typeface="Calibri"/>
              <a:sym typeface="Calibri"/>
            </a:endParaRPr>
          </a:p>
        </p:txBody>
      </p:sp>
      <p:sp>
        <p:nvSpPr>
          <p:cNvPr id="32" name="Google Shape;32;p1"/>
          <p:cNvSpPr/>
          <p:nvPr/>
        </p:nvSpPr>
        <p:spPr>
          <a:xfrm>
            <a:off x="8458200" y="1691640"/>
            <a:ext cx="329184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41C1C"/>
              </a:buClr>
              <a:buSzPts val="2200"/>
              <a:buFont typeface="Georgia"/>
              <a:buNone/>
            </a:pPr>
            <a:r>
              <a:rPr lang="en-US" sz="2200" b="1" i="0" u="none" strike="noStrike" cap="none">
                <a:solidFill>
                  <a:srgbClr val="241C1C"/>
                </a:solidFill>
                <a:latin typeface="Georgia"/>
                <a:ea typeface="Georgia"/>
                <a:cs typeface="Georgia"/>
                <a:sym typeface="Georgia"/>
              </a:rPr>
              <a:t>50 000 FCFA</a:t>
            </a:r>
            <a:endParaRPr sz="2200" b="0" i="0" u="none" strike="noStrike" cap="none">
              <a:solidFill>
                <a:schemeClr val="dk1"/>
              </a:solidFill>
              <a:latin typeface="Calibri"/>
              <a:ea typeface="Calibri"/>
              <a:cs typeface="Calibri"/>
              <a:sym typeface="Calibri"/>
            </a:endParaRPr>
          </a:p>
        </p:txBody>
      </p:sp>
      <p:sp>
        <p:nvSpPr>
          <p:cNvPr id="33" name="Google Shape;33;p1"/>
          <p:cNvSpPr/>
          <p:nvPr/>
        </p:nvSpPr>
        <p:spPr>
          <a:xfrm>
            <a:off x="8458200" y="2194560"/>
            <a:ext cx="329184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41C1C"/>
              </a:buClr>
              <a:buSzPts val="900"/>
              <a:buFont typeface="Poppins"/>
              <a:buNone/>
            </a:pPr>
            <a:r>
              <a:rPr lang="en-US" sz="900" b="0" i="0" u="none" strike="noStrike" cap="none">
                <a:solidFill>
                  <a:srgbClr val="241C1C"/>
                </a:solidFill>
                <a:latin typeface="Poppins"/>
                <a:ea typeface="Poppins"/>
                <a:cs typeface="Poppins"/>
                <a:sym typeface="Poppins"/>
              </a:rPr>
              <a:t>1 place</a:t>
            </a:r>
            <a:endParaRPr sz="900" b="0" i="0" u="none" strike="noStrike" cap="none">
              <a:solidFill>
                <a:schemeClr val="dk1"/>
              </a:solidFill>
              <a:latin typeface="Calibri"/>
              <a:ea typeface="Calibri"/>
              <a:cs typeface="Calibri"/>
              <a:sym typeface="Calibri"/>
            </a:endParaRPr>
          </a:p>
        </p:txBody>
      </p:sp>
      <p:sp>
        <p:nvSpPr>
          <p:cNvPr id="34" name="Google Shape;34;p1"/>
          <p:cNvSpPr/>
          <p:nvPr/>
        </p:nvSpPr>
        <p:spPr>
          <a:xfrm>
            <a:off x="8458200" y="2560320"/>
            <a:ext cx="329184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41C1C"/>
              </a:buClr>
              <a:buSzPts val="1000"/>
              <a:buFont typeface="Poppins"/>
              <a:buNone/>
            </a:pPr>
            <a:r>
              <a:rPr lang="en-US" sz="1000" b="1" i="0" u="none" strike="noStrike" cap="none">
                <a:solidFill>
                  <a:srgbClr val="241C1C"/>
                </a:solidFill>
                <a:latin typeface="Poppins"/>
                <a:ea typeface="Poppins"/>
                <a:cs typeface="Poppins"/>
                <a:sym typeface="Poppins"/>
              </a:rPr>
              <a:t>Places : 40</a:t>
            </a:r>
            <a:endParaRPr sz="1000" b="0" i="0" u="none" strike="noStrike" cap="none">
              <a:solidFill>
                <a:schemeClr val="dk1"/>
              </a:solidFill>
              <a:latin typeface="Calibri"/>
              <a:ea typeface="Calibri"/>
              <a:cs typeface="Calibri"/>
              <a:sym typeface="Calibri"/>
            </a:endParaRPr>
          </a:p>
        </p:txBody>
      </p:sp>
      <p:sp>
        <p:nvSpPr>
          <p:cNvPr id="55" name="Google Shape;55;p1"/>
          <p:cNvSpPr/>
          <p:nvPr/>
        </p:nvSpPr>
        <p:spPr>
          <a:xfrm>
            <a:off x="8366760" y="4206240"/>
            <a:ext cx="338328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41C1C"/>
              </a:buClr>
              <a:buSzPts val="800"/>
              <a:buFont typeface="Poppins"/>
              <a:buNone/>
            </a:pPr>
            <a:r>
              <a:rPr lang="en-US" sz="800" b="0" i="0" u="none" strike="noStrike" cap="none">
                <a:solidFill>
                  <a:srgbClr val="241C1C"/>
                </a:solidFill>
                <a:latin typeface="Poppins"/>
                <a:ea typeface="Poppins"/>
                <a:cs typeface="Poppins"/>
                <a:sym typeface="Poppins"/>
              </a:rPr>
              <a:t>CER-STD-2026</a:t>
            </a:r>
            <a:endParaRPr sz="800" b="0" i="0" u="none" strike="noStrike" cap="none">
              <a:solidFill>
                <a:schemeClr val="dk1"/>
              </a:solidFill>
              <a:latin typeface="Calibri"/>
              <a:ea typeface="Calibri"/>
              <a:cs typeface="Calibri"/>
              <a:sym typeface="Calibri"/>
            </a:endParaRPr>
          </a:p>
        </p:txBody>
      </p:sp>
      <p:pic>
        <p:nvPicPr>
          <p:cNvPr id="56" name="Picture 55" descr="qr_CER-STD-2026.png"/>
          <p:cNvPicPr>
            <a:picLocks noChangeAspect="1"/>
          </p:cNvPicPr>
          <p:nvPr/>
        </p:nvPicPr>
        <p:blipFill>
          <a:blip r:embed="rId4"/>
          <a:stretch>
            <a:fillRect/>
          </a:stretch>
        </p:blipFill>
        <p:spPr>
          <a:xfrm>
            <a:off x="9578340" y="3063240"/>
            <a:ext cx="1005840" cy="1005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0"/>
        <p:cNvGrpSpPr/>
        <p:nvPr/>
      </p:nvGrpSpPr>
      <p:grpSpPr>
        <a:xfrm>
          <a:off x="0" y="0"/>
          <a:ext cx="0" cy="0"/>
          <a:chOff x="0" y="0"/>
          <a:chExt cx="0" cy="0"/>
        </a:xfrm>
      </p:grpSpPr>
      <p:sp>
        <p:nvSpPr>
          <p:cNvPr id="61" name="Google Shape;61;p2"/>
          <p:cNvSpPr/>
          <p:nvPr/>
        </p:nvSpPr>
        <p:spPr>
          <a:xfrm>
            <a:off x="457200" y="228600"/>
            <a:ext cx="1124712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8078"/>
              </a:buClr>
              <a:buSzPts val="1300"/>
              <a:buFont typeface="Georgia"/>
              <a:buNone/>
            </a:pPr>
            <a:r>
              <a:rPr lang="en-US" sz="1300" b="0" i="0" u="none" strike="noStrike" cap="none">
                <a:solidFill>
                  <a:srgbClr val="8A8078"/>
                </a:solidFill>
                <a:latin typeface="Georgia"/>
                <a:ea typeface="Georgia"/>
                <a:cs typeface="Georgia"/>
                <a:sym typeface="Georgia"/>
              </a:rPr>
              <a:t>2. Ticket VIP « Espoir »</a:t>
            </a:r>
            <a:endParaRPr sz="1300" b="0" i="0" u="none" strike="noStrike" cap="none">
              <a:solidFill>
                <a:schemeClr val="dk1"/>
              </a:solidFill>
              <a:latin typeface="Calibri"/>
              <a:ea typeface="Calibri"/>
              <a:cs typeface="Calibri"/>
              <a:sym typeface="Calibri"/>
            </a:endParaRPr>
          </a:p>
        </p:txBody>
      </p:sp>
      <p:sp>
        <p:nvSpPr>
          <p:cNvPr id="62" name="Google Shape;62;p2"/>
          <p:cNvSpPr/>
          <p:nvPr/>
        </p:nvSpPr>
        <p:spPr>
          <a:xfrm>
            <a:off x="457200" y="777240"/>
            <a:ext cx="7863840" cy="5120640"/>
          </a:xfrm>
          <a:prstGeom prst="roundRect">
            <a:avLst>
              <a:gd name="adj" fmla="val 2143"/>
            </a:avLst>
          </a:prstGeom>
          <a:solidFill>
            <a:srgbClr val="1F3864"/>
          </a:solidFill>
          <a:ln>
            <a:noFill/>
          </a:ln>
          <a:effectLst>
            <a:outerShdw blurRad="228600" dist="76200" dir="5400000" algn="bl" rotWithShape="0">
              <a:srgbClr val="000000">
                <a:alpha val="3490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8183880" y="777240"/>
            <a:ext cx="3520440" cy="5120640"/>
          </a:xfrm>
          <a:prstGeom prst="roundRect">
            <a:avLst>
              <a:gd name="adj" fmla="val 3117"/>
            </a:avLst>
          </a:prstGeom>
          <a:solidFill>
            <a:srgbClr val="101F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8174736" y="886968"/>
            <a:ext cx="164592" cy="4901184"/>
          </a:xfrm>
          <a:prstGeom prst="rect">
            <a:avLst/>
          </a:prstGeom>
          <a:solidFill>
            <a:srgbClr val="1F3864"/>
          </a:solidFill>
          <a:ln w="12700" cap="flat" cmpd="sng">
            <a:solidFill>
              <a:srgbClr val="1F386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 name="Google Shape;65;p2"/>
          <p:cNvCxnSpPr/>
          <p:nvPr/>
        </p:nvCxnSpPr>
        <p:spPr>
          <a:xfrm>
            <a:off x="8321040" y="777240"/>
            <a:ext cx="0" cy="5120640"/>
          </a:xfrm>
          <a:prstGeom prst="straightConnector1">
            <a:avLst/>
          </a:prstGeom>
          <a:noFill/>
          <a:ln w="19050" cap="flat" cmpd="sng">
            <a:solidFill>
              <a:srgbClr val="FFFFFF">
                <a:alpha val="70196"/>
              </a:srgbClr>
            </a:solidFill>
            <a:prstDash val="dash"/>
            <a:round/>
            <a:headEnd type="none" w="sm" len="sm"/>
            <a:tailEnd type="none" w="sm" len="sm"/>
          </a:ln>
        </p:spPr>
      </p:cxnSp>
      <p:sp>
        <p:nvSpPr>
          <p:cNvPr id="66" name="Google Shape;66;p2"/>
          <p:cNvSpPr/>
          <p:nvPr/>
        </p:nvSpPr>
        <p:spPr>
          <a:xfrm>
            <a:off x="8193024" y="649224"/>
            <a:ext cx="256032" cy="256032"/>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8193024" y="5769864"/>
            <a:ext cx="256032" cy="256032"/>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8" name="Google Shape;68;p2" descr="/home/claude/gala/pptx/ribbon_pink.png"/>
          <p:cNvPicPr preferRelativeResize="0"/>
          <p:nvPr/>
        </p:nvPicPr>
        <p:blipFill rotWithShape="1">
          <a:blip r:embed="rId3">
            <a:alphaModFix/>
          </a:blip>
          <a:srcRect/>
          <a:stretch/>
        </p:blipFill>
        <p:spPr>
          <a:xfrm>
            <a:off x="777240" y="1051560"/>
            <a:ext cx="201168" cy="265176"/>
          </a:xfrm>
          <a:prstGeom prst="rect">
            <a:avLst/>
          </a:prstGeom>
          <a:noFill/>
          <a:ln>
            <a:noFill/>
          </a:ln>
        </p:spPr>
      </p:pic>
      <p:sp>
        <p:nvSpPr>
          <p:cNvPr id="69" name="Google Shape;69;p2"/>
          <p:cNvSpPr/>
          <p:nvPr/>
        </p:nvSpPr>
        <p:spPr>
          <a:xfrm>
            <a:off x="1051560" y="996696"/>
            <a:ext cx="3657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400"/>
              <a:buFont typeface="Georgia"/>
              <a:buNone/>
            </a:pPr>
            <a:r>
              <a:rPr lang="en-US" sz="1400" b="0" i="1" u="none" strike="noStrike" cap="none">
                <a:solidFill>
                  <a:srgbClr val="FFFFFF"/>
                </a:solidFill>
                <a:latin typeface="Georgia"/>
                <a:ea typeface="Georgia"/>
                <a:cs typeface="Georgia"/>
                <a:sym typeface="Georgia"/>
              </a:rPr>
              <a:t>Cœur en Rose</a:t>
            </a:r>
            <a:endParaRPr sz="1400" b="0" i="0" u="none" strike="noStrike" cap="none">
              <a:solidFill>
                <a:schemeClr val="dk1"/>
              </a:solidFill>
              <a:latin typeface="Calibri"/>
              <a:ea typeface="Calibri"/>
              <a:cs typeface="Calibri"/>
              <a:sym typeface="Calibri"/>
            </a:endParaRPr>
          </a:p>
        </p:txBody>
      </p:sp>
      <p:sp>
        <p:nvSpPr>
          <p:cNvPr id="70" name="Google Shape;70;p2"/>
          <p:cNvSpPr/>
          <p:nvPr/>
        </p:nvSpPr>
        <p:spPr>
          <a:xfrm>
            <a:off x="1051560" y="1271016"/>
            <a:ext cx="6949440"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800"/>
              <a:buFont typeface="Poppins"/>
              <a:buNone/>
            </a:pPr>
            <a:r>
              <a:rPr lang="en-US" sz="800" b="0" i="0" u="none" strike="noStrike" cap="none">
                <a:solidFill>
                  <a:srgbClr val="FFFFFF"/>
                </a:solidFill>
                <a:latin typeface="Poppins"/>
                <a:ea typeface="Poppins"/>
                <a:cs typeface="Poppins"/>
                <a:sym typeface="Poppins"/>
              </a:rPr>
              <a:t>GALA SOLIDAIRE · COTONOU · OCT. 2026</a:t>
            </a:r>
            <a:endParaRPr sz="800" b="0" i="0" u="none" strike="noStrike" cap="none">
              <a:solidFill>
                <a:schemeClr val="dk1"/>
              </a:solidFill>
              <a:latin typeface="Calibri"/>
              <a:ea typeface="Calibri"/>
              <a:cs typeface="Calibri"/>
              <a:sym typeface="Calibri"/>
            </a:endParaRPr>
          </a:p>
        </p:txBody>
      </p:sp>
      <p:sp>
        <p:nvSpPr>
          <p:cNvPr id="71" name="Google Shape;71;p2"/>
          <p:cNvSpPr/>
          <p:nvPr/>
        </p:nvSpPr>
        <p:spPr>
          <a:xfrm>
            <a:off x="777240" y="1645920"/>
            <a:ext cx="722376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3000"/>
              <a:buFont typeface="Georgia"/>
              <a:buNone/>
            </a:pPr>
            <a:r>
              <a:rPr lang="en-US" sz="3000" b="0" i="1" u="none" strike="noStrike" cap="none">
                <a:solidFill>
                  <a:srgbClr val="FFFFFF"/>
                </a:solidFill>
                <a:latin typeface="Georgia"/>
                <a:ea typeface="Georgia"/>
                <a:cs typeface="Georgia"/>
                <a:sym typeface="Georgia"/>
              </a:rPr>
              <a:t>Espoir</a:t>
            </a:r>
            <a:endParaRPr sz="3000" b="0" i="0" u="none" strike="noStrike" cap="none">
              <a:solidFill>
                <a:schemeClr val="dk1"/>
              </a:solidFill>
              <a:latin typeface="Calibri"/>
              <a:ea typeface="Calibri"/>
              <a:cs typeface="Calibri"/>
              <a:sym typeface="Calibri"/>
            </a:endParaRPr>
          </a:p>
        </p:txBody>
      </p:sp>
      <p:sp>
        <p:nvSpPr>
          <p:cNvPr id="72" name="Google Shape;72;p2"/>
          <p:cNvSpPr/>
          <p:nvPr/>
        </p:nvSpPr>
        <p:spPr>
          <a:xfrm>
            <a:off x="777240" y="2167128"/>
            <a:ext cx="740664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Poppins"/>
              <a:buNone/>
            </a:pPr>
            <a:r>
              <a:rPr lang="en-US" sz="1000" b="0" i="0" u="none" strike="noStrike" cap="none">
                <a:solidFill>
                  <a:srgbClr val="FFFFFF"/>
                </a:solidFill>
                <a:latin typeface="Poppins"/>
                <a:ea typeface="Poppins"/>
                <a:cs typeface="Poppins"/>
                <a:sym typeface="Poppins"/>
              </a:rPr>
              <a:t>TICKET VIP</a:t>
            </a:r>
            <a:endParaRPr sz="1000" b="0" i="0" u="none" strike="noStrike" cap="none">
              <a:solidFill>
                <a:schemeClr val="dk1"/>
              </a:solidFill>
              <a:latin typeface="Calibri"/>
              <a:ea typeface="Calibri"/>
              <a:cs typeface="Calibri"/>
              <a:sym typeface="Calibri"/>
            </a:endParaRPr>
          </a:p>
        </p:txBody>
      </p:sp>
      <p:sp>
        <p:nvSpPr>
          <p:cNvPr id="73" name="Google Shape;73;p2"/>
          <p:cNvSpPr/>
          <p:nvPr/>
        </p:nvSpPr>
        <p:spPr>
          <a:xfrm>
            <a:off x="777240" y="2606040"/>
            <a:ext cx="7223760" cy="237744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FFFFFF"/>
              </a:buClr>
              <a:buSzPts val="1200"/>
              <a:buFont typeface="Poppins"/>
              <a:buChar char="—"/>
            </a:pPr>
            <a:r>
              <a:rPr lang="en-US" sz="1200" b="0" i="0" u="none" strike="noStrike" cap="none">
                <a:solidFill>
                  <a:srgbClr val="FFFFFF"/>
                </a:solidFill>
                <a:latin typeface="Poppins"/>
                <a:ea typeface="Poppins"/>
                <a:cs typeface="Poppins"/>
                <a:sym typeface="Poppins"/>
              </a:rPr>
              <a:t>Placement en zone préférentielle</a:t>
            </a:r>
            <a:endParaRPr sz="12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FFFFFF"/>
              </a:buClr>
              <a:buSzPts val="1200"/>
              <a:buFont typeface="Poppins"/>
              <a:buChar char="—"/>
            </a:pPr>
            <a:r>
              <a:rPr lang="en-US" sz="1200" b="0" i="0" u="none" strike="noStrike" cap="none">
                <a:solidFill>
                  <a:srgbClr val="FFFFFF"/>
                </a:solidFill>
                <a:latin typeface="Poppins"/>
                <a:ea typeface="Poppins"/>
                <a:cs typeface="Poppins"/>
                <a:sym typeface="Poppins"/>
              </a:rPr>
              <a:t>Cocktail de bienvenue</a:t>
            </a:r>
            <a:endParaRPr sz="12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FFFFFF"/>
              </a:buClr>
              <a:buSzPts val="1200"/>
              <a:buFont typeface="Poppins"/>
              <a:buChar char="—"/>
            </a:pPr>
            <a:r>
              <a:rPr lang="en-US" sz="1200" b="0" i="0" u="none" strike="noStrike" cap="none">
                <a:solidFill>
                  <a:srgbClr val="FFFFFF"/>
                </a:solidFill>
                <a:latin typeface="Poppins"/>
                <a:ea typeface="Poppins"/>
                <a:cs typeface="Poppins"/>
                <a:sym typeface="Poppins"/>
              </a:rPr>
              <a:t>Kit invité offert</a:t>
            </a:r>
            <a:endParaRPr sz="12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FFFFFF"/>
              </a:buClr>
              <a:buSzPts val="1200"/>
              <a:buFont typeface="Poppins"/>
              <a:buChar char="—"/>
            </a:pPr>
            <a:r>
              <a:rPr lang="en-US" sz="1200" b="0" i="0" u="none" strike="noStrike" cap="none">
                <a:solidFill>
                  <a:srgbClr val="FFFFFF"/>
                </a:solidFill>
                <a:latin typeface="Poppins"/>
                <a:ea typeface="Poppins"/>
                <a:cs typeface="Poppins"/>
                <a:sym typeface="Poppins"/>
              </a:rPr>
              <a:t>Carte-menu narrative « Du Doute à la Vie »</a:t>
            </a:r>
            <a:endParaRPr sz="12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FFFFFF"/>
              </a:buClr>
              <a:buSzPts val="1200"/>
              <a:buFont typeface="Poppins"/>
              <a:buChar char="—"/>
            </a:pPr>
            <a:r>
              <a:rPr lang="en-US" sz="1200" b="0" i="0" u="none" strike="noStrike" cap="none">
                <a:solidFill>
                  <a:srgbClr val="FFFFFF"/>
                </a:solidFill>
                <a:latin typeface="Poppins"/>
                <a:ea typeface="Poppins"/>
                <a:cs typeface="Poppins"/>
                <a:sym typeface="Poppins"/>
              </a:rPr>
              <a:t>Accès prioritaire au photobooth</a:t>
            </a:r>
            <a:endParaRPr sz="1200" b="0" i="0" u="none" strike="noStrike" cap="none">
              <a:solidFill>
                <a:schemeClr val="dk1"/>
              </a:solidFill>
              <a:latin typeface="Calibri"/>
              <a:ea typeface="Calibri"/>
              <a:cs typeface="Calibri"/>
              <a:sym typeface="Calibri"/>
            </a:endParaRPr>
          </a:p>
        </p:txBody>
      </p:sp>
      <p:sp>
        <p:nvSpPr>
          <p:cNvPr id="74" name="Google Shape;74;p2"/>
          <p:cNvSpPr/>
          <p:nvPr/>
        </p:nvSpPr>
        <p:spPr>
          <a:xfrm>
            <a:off x="777240" y="5486400"/>
            <a:ext cx="5111496"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800"/>
              <a:buFont typeface="Poppins"/>
              <a:buNone/>
            </a:pPr>
            <a:r>
              <a:rPr lang="en-US" sz="800" b="0" i="0" u="none" strike="noStrike" cap="none">
                <a:solidFill>
                  <a:srgbClr val="FFFFFF"/>
                </a:solidFill>
                <a:latin typeface="Poppins"/>
                <a:ea typeface="Poppins"/>
                <a:cs typeface="Poppins"/>
                <a:sym typeface="Poppins"/>
              </a:rPr>
              <a:t>UN DON, UN EXAMEN, UNE VIE SAUVÉE</a:t>
            </a:r>
            <a:endParaRPr sz="800" b="0" i="0" u="none" strike="noStrike" cap="none">
              <a:solidFill>
                <a:schemeClr val="dk1"/>
              </a:solidFill>
              <a:latin typeface="Calibri"/>
              <a:ea typeface="Calibri"/>
              <a:cs typeface="Calibri"/>
              <a:sym typeface="Calibri"/>
            </a:endParaRPr>
          </a:p>
        </p:txBody>
      </p:sp>
      <p:sp>
        <p:nvSpPr>
          <p:cNvPr id="75" name="Google Shape;75;p2"/>
          <p:cNvSpPr/>
          <p:nvPr/>
        </p:nvSpPr>
        <p:spPr>
          <a:xfrm>
            <a:off x="5669280" y="5486400"/>
            <a:ext cx="233172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FFFFFF"/>
              </a:buClr>
              <a:buSzPts val="800"/>
              <a:buFont typeface="Poppins"/>
              <a:buNone/>
            </a:pPr>
            <a:r>
              <a:rPr lang="en-US" sz="800" b="0" i="0" u="none" strike="noStrike" cap="none">
                <a:solidFill>
                  <a:srgbClr val="FFFFFF"/>
                </a:solidFill>
                <a:latin typeface="Poppins"/>
                <a:ea typeface="Poppins"/>
                <a:cs typeface="Poppins"/>
                <a:sym typeface="Poppins"/>
              </a:rPr>
              <a:t>BILLET N° ______</a:t>
            </a:r>
            <a:endParaRPr sz="800" b="0" i="0" u="none" strike="noStrike" cap="none">
              <a:solidFill>
                <a:schemeClr val="dk1"/>
              </a:solidFill>
              <a:latin typeface="Calibri"/>
              <a:ea typeface="Calibri"/>
              <a:cs typeface="Calibri"/>
              <a:sym typeface="Calibri"/>
            </a:endParaRPr>
          </a:p>
        </p:txBody>
      </p:sp>
      <p:sp>
        <p:nvSpPr>
          <p:cNvPr id="76" name="Google Shape;76;p2"/>
          <p:cNvSpPr/>
          <p:nvPr/>
        </p:nvSpPr>
        <p:spPr>
          <a:xfrm>
            <a:off x="8458200" y="1097280"/>
            <a:ext cx="329184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E5B2"/>
              </a:buClr>
              <a:buSzPts val="1100"/>
              <a:buFont typeface="Georgia"/>
              <a:buNone/>
            </a:pPr>
            <a:r>
              <a:rPr lang="en-US" sz="1100" b="0" i="1" u="none" strike="noStrike" cap="none">
                <a:solidFill>
                  <a:srgbClr val="F4E5B2"/>
                </a:solidFill>
                <a:latin typeface="Georgia"/>
                <a:ea typeface="Georgia"/>
                <a:cs typeface="Georgia"/>
                <a:sym typeface="Georgia"/>
              </a:rPr>
              <a:t>ESPOIR</a:t>
            </a:r>
            <a:endParaRPr sz="1100" b="0" i="0" u="none" strike="noStrike" cap="none">
              <a:solidFill>
                <a:schemeClr val="dk1"/>
              </a:solidFill>
              <a:latin typeface="Calibri"/>
              <a:ea typeface="Calibri"/>
              <a:cs typeface="Calibri"/>
              <a:sym typeface="Calibri"/>
            </a:endParaRPr>
          </a:p>
        </p:txBody>
      </p:sp>
      <p:sp>
        <p:nvSpPr>
          <p:cNvPr id="77" name="Google Shape;77;p2"/>
          <p:cNvSpPr/>
          <p:nvPr/>
        </p:nvSpPr>
        <p:spPr>
          <a:xfrm>
            <a:off x="8458200" y="1691640"/>
            <a:ext cx="329184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E5B2"/>
              </a:buClr>
              <a:buSzPts val="2200"/>
              <a:buFont typeface="Georgia"/>
              <a:buNone/>
            </a:pPr>
            <a:r>
              <a:rPr lang="en-US" sz="2200" b="1" i="0" u="none" strike="noStrike" cap="none">
                <a:solidFill>
                  <a:srgbClr val="F4E5B2"/>
                </a:solidFill>
                <a:latin typeface="Georgia"/>
                <a:ea typeface="Georgia"/>
                <a:cs typeface="Georgia"/>
                <a:sym typeface="Georgia"/>
              </a:rPr>
              <a:t>100 000 FCFA</a:t>
            </a:r>
            <a:endParaRPr sz="2200" b="0" i="0" u="none" strike="noStrike" cap="none">
              <a:solidFill>
                <a:schemeClr val="dk1"/>
              </a:solidFill>
              <a:latin typeface="Calibri"/>
              <a:ea typeface="Calibri"/>
              <a:cs typeface="Calibri"/>
              <a:sym typeface="Calibri"/>
            </a:endParaRPr>
          </a:p>
        </p:txBody>
      </p:sp>
      <p:sp>
        <p:nvSpPr>
          <p:cNvPr id="78" name="Google Shape;78;p2"/>
          <p:cNvSpPr/>
          <p:nvPr/>
        </p:nvSpPr>
        <p:spPr>
          <a:xfrm>
            <a:off x="8458200" y="2194560"/>
            <a:ext cx="329184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E5B2"/>
              </a:buClr>
              <a:buSzPts val="900"/>
              <a:buFont typeface="Poppins"/>
              <a:buNone/>
            </a:pPr>
            <a:r>
              <a:rPr lang="en-US" sz="900" b="0" i="0" u="none" strike="noStrike" cap="none">
                <a:solidFill>
                  <a:srgbClr val="F4E5B2"/>
                </a:solidFill>
                <a:latin typeface="Poppins"/>
                <a:ea typeface="Poppins"/>
                <a:cs typeface="Poppins"/>
                <a:sym typeface="Poppins"/>
              </a:rPr>
              <a:t>1 place</a:t>
            </a:r>
            <a:endParaRPr sz="900" b="0" i="0" u="none" strike="noStrike" cap="none">
              <a:solidFill>
                <a:schemeClr val="dk1"/>
              </a:solidFill>
              <a:latin typeface="Calibri"/>
              <a:ea typeface="Calibri"/>
              <a:cs typeface="Calibri"/>
              <a:sym typeface="Calibri"/>
            </a:endParaRPr>
          </a:p>
        </p:txBody>
      </p:sp>
      <p:sp>
        <p:nvSpPr>
          <p:cNvPr id="79" name="Google Shape;79;p2"/>
          <p:cNvSpPr/>
          <p:nvPr/>
        </p:nvSpPr>
        <p:spPr>
          <a:xfrm>
            <a:off x="8458200" y="2560320"/>
            <a:ext cx="329184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E5B2"/>
              </a:buClr>
              <a:buSzPts val="1000"/>
              <a:buFont typeface="Poppins"/>
              <a:buNone/>
            </a:pPr>
            <a:r>
              <a:rPr lang="en-US" sz="1000" b="1" i="0" u="none" strike="noStrike" cap="none">
                <a:solidFill>
                  <a:srgbClr val="F4E5B2"/>
                </a:solidFill>
                <a:latin typeface="Poppins"/>
                <a:ea typeface="Poppins"/>
                <a:cs typeface="Poppins"/>
                <a:sym typeface="Poppins"/>
              </a:rPr>
              <a:t>Places : 25</a:t>
            </a:r>
            <a:endParaRPr sz="1000" b="0" i="0" u="none" strike="noStrike" cap="none">
              <a:solidFill>
                <a:schemeClr val="dk1"/>
              </a:solidFill>
              <a:latin typeface="Calibri"/>
              <a:ea typeface="Calibri"/>
              <a:cs typeface="Calibri"/>
              <a:sym typeface="Calibri"/>
            </a:endParaRPr>
          </a:p>
        </p:txBody>
      </p:sp>
      <p:sp>
        <p:nvSpPr>
          <p:cNvPr id="100" name="Google Shape;100;p2"/>
          <p:cNvSpPr/>
          <p:nvPr/>
        </p:nvSpPr>
        <p:spPr>
          <a:xfrm>
            <a:off x="8366760" y="4206240"/>
            <a:ext cx="338328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E5B2"/>
              </a:buClr>
              <a:buSzPts val="800"/>
              <a:buFont typeface="Poppins"/>
              <a:buNone/>
            </a:pPr>
            <a:r>
              <a:rPr lang="en-US" sz="800" b="0" i="0" u="none" strike="noStrike" cap="none">
                <a:solidFill>
                  <a:srgbClr val="F4E5B2"/>
                </a:solidFill>
                <a:latin typeface="Poppins"/>
                <a:ea typeface="Poppins"/>
                <a:cs typeface="Poppins"/>
                <a:sym typeface="Poppins"/>
              </a:rPr>
              <a:t>CER-VIP-2026</a:t>
            </a:r>
            <a:endParaRPr sz="800" b="0" i="0" u="none" strike="noStrike" cap="none">
              <a:solidFill>
                <a:schemeClr val="dk1"/>
              </a:solidFill>
              <a:latin typeface="Calibri"/>
              <a:ea typeface="Calibri"/>
              <a:cs typeface="Calibri"/>
              <a:sym typeface="Calibri"/>
            </a:endParaRPr>
          </a:p>
        </p:txBody>
      </p:sp>
      <p:pic>
        <p:nvPicPr>
          <p:cNvPr id="101" name="Picture 100" descr="qr_CER-VIP-2026.png"/>
          <p:cNvPicPr>
            <a:picLocks noChangeAspect="1"/>
          </p:cNvPicPr>
          <p:nvPr/>
        </p:nvPicPr>
        <p:blipFill>
          <a:blip r:embed="rId4"/>
          <a:stretch>
            <a:fillRect/>
          </a:stretch>
        </p:blipFill>
        <p:spPr>
          <a:xfrm>
            <a:off x="9578340" y="3063240"/>
            <a:ext cx="1005840" cy="10058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5"/>
        <p:cNvGrpSpPr/>
        <p:nvPr/>
      </p:nvGrpSpPr>
      <p:grpSpPr>
        <a:xfrm>
          <a:off x="0" y="0"/>
          <a:ext cx="0" cy="0"/>
          <a:chOff x="0" y="0"/>
          <a:chExt cx="0" cy="0"/>
        </a:xfrm>
      </p:grpSpPr>
      <p:sp>
        <p:nvSpPr>
          <p:cNvPr id="106" name="Google Shape;106;p3"/>
          <p:cNvSpPr/>
          <p:nvPr/>
        </p:nvSpPr>
        <p:spPr>
          <a:xfrm>
            <a:off x="457200" y="228600"/>
            <a:ext cx="1124712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8078"/>
              </a:buClr>
              <a:buSzPts val="1300"/>
              <a:buFont typeface="Georgia"/>
              <a:buNone/>
            </a:pPr>
            <a:r>
              <a:rPr lang="en-US" sz="1300" b="0" i="0" u="none" strike="noStrike" cap="none">
                <a:solidFill>
                  <a:srgbClr val="8A8078"/>
                </a:solidFill>
                <a:latin typeface="Georgia"/>
                <a:ea typeface="Georgia"/>
                <a:cs typeface="Georgia"/>
                <a:sym typeface="Georgia"/>
              </a:rPr>
              <a:t>3. Ticket Prestige « Cœur d'Or »</a:t>
            </a:r>
            <a:endParaRPr sz="1300" b="0" i="0" u="none" strike="noStrike" cap="none">
              <a:solidFill>
                <a:schemeClr val="dk1"/>
              </a:solidFill>
              <a:latin typeface="Calibri"/>
              <a:ea typeface="Calibri"/>
              <a:cs typeface="Calibri"/>
              <a:sym typeface="Calibri"/>
            </a:endParaRPr>
          </a:p>
        </p:txBody>
      </p:sp>
      <p:sp>
        <p:nvSpPr>
          <p:cNvPr id="107" name="Google Shape;107;p3"/>
          <p:cNvSpPr/>
          <p:nvPr/>
        </p:nvSpPr>
        <p:spPr>
          <a:xfrm>
            <a:off x="457200" y="777240"/>
            <a:ext cx="7863840" cy="5120640"/>
          </a:xfrm>
          <a:prstGeom prst="roundRect">
            <a:avLst>
              <a:gd name="adj" fmla="val 2143"/>
            </a:avLst>
          </a:prstGeom>
          <a:solidFill>
            <a:srgbClr val="BF9000"/>
          </a:solidFill>
          <a:ln>
            <a:noFill/>
          </a:ln>
          <a:effectLst>
            <a:outerShdw blurRad="228600" dist="76200" dir="5400000" algn="bl" rotWithShape="0">
              <a:srgbClr val="000000">
                <a:alpha val="3490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8183880" y="777240"/>
            <a:ext cx="3520440" cy="5120640"/>
          </a:xfrm>
          <a:prstGeom prst="roundRect">
            <a:avLst>
              <a:gd name="adj" fmla="val 3117"/>
            </a:avLst>
          </a:prstGeom>
          <a:solidFill>
            <a:srgbClr val="8A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3"/>
          <p:cNvSpPr/>
          <p:nvPr/>
        </p:nvSpPr>
        <p:spPr>
          <a:xfrm>
            <a:off x="8174736" y="886968"/>
            <a:ext cx="164592" cy="4901184"/>
          </a:xfrm>
          <a:prstGeom prst="rect">
            <a:avLst/>
          </a:prstGeom>
          <a:solidFill>
            <a:srgbClr val="BF9000"/>
          </a:solidFill>
          <a:ln w="12700" cap="flat" cmpd="sng">
            <a:solidFill>
              <a:srgbClr val="BF9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0" name="Google Shape;110;p3"/>
          <p:cNvCxnSpPr/>
          <p:nvPr/>
        </p:nvCxnSpPr>
        <p:spPr>
          <a:xfrm>
            <a:off x="8321040" y="777240"/>
            <a:ext cx="0" cy="5120640"/>
          </a:xfrm>
          <a:prstGeom prst="straightConnector1">
            <a:avLst/>
          </a:prstGeom>
          <a:noFill/>
          <a:ln w="19050" cap="flat" cmpd="sng">
            <a:solidFill>
              <a:srgbClr val="FFFFFF">
                <a:alpha val="70196"/>
              </a:srgbClr>
            </a:solidFill>
            <a:prstDash val="dash"/>
            <a:round/>
            <a:headEnd type="none" w="sm" len="sm"/>
            <a:tailEnd type="none" w="sm" len="sm"/>
          </a:ln>
        </p:spPr>
      </p:cxnSp>
      <p:sp>
        <p:nvSpPr>
          <p:cNvPr id="111" name="Google Shape;111;p3"/>
          <p:cNvSpPr/>
          <p:nvPr/>
        </p:nvSpPr>
        <p:spPr>
          <a:xfrm>
            <a:off x="8193024" y="649224"/>
            <a:ext cx="256032" cy="256032"/>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
          <p:cNvSpPr/>
          <p:nvPr/>
        </p:nvSpPr>
        <p:spPr>
          <a:xfrm>
            <a:off x="8193024" y="5769864"/>
            <a:ext cx="256032" cy="256032"/>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a:off x="6217920" y="1005840"/>
            <a:ext cx="1828800" cy="365760"/>
          </a:xfrm>
          <a:prstGeom prst="roundRect">
            <a:avLst>
              <a:gd name="adj" fmla="val 50000"/>
            </a:avLst>
          </a:prstGeom>
          <a:solidFill>
            <a:srgbClr val="FFFFFF">
              <a:alpha val="3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a:off x="6217920" y="1005840"/>
            <a:ext cx="182880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900"/>
              <a:buFont typeface="Poppins"/>
              <a:buNone/>
            </a:pPr>
            <a:r>
              <a:rPr lang="en-US" sz="900" b="0" i="0" u="none" strike="noStrike" cap="none">
                <a:solidFill>
                  <a:srgbClr val="FFFFFF"/>
                </a:solidFill>
                <a:latin typeface="Poppins"/>
                <a:ea typeface="Poppins"/>
                <a:cs typeface="Poppins"/>
                <a:sym typeface="Poppins"/>
              </a:rPr>
              <a:t>ÉDITION PRESTIGE</a:t>
            </a:r>
            <a:endParaRPr sz="900" b="0" i="0" u="none" strike="noStrike" cap="none">
              <a:solidFill>
                <a:schemeClr val="dk1"/>
              </a:solidFill>
              <a:latin typeface="Calibri"/>
              <a:ea typeface="Calibri"/>
              <a:cs typeface="Calibri"/>
              <a:sym typeface="Calibri"/>
            </a:endParaRPr>
          </a:p>
        </p:txBody>
      </p:sp>
      <p:pic>
        <p:nvPicPr>
          <p:cNvPr id="115" name="Google Shape;115;p3" descr="/home/claude/gala/pptx/ribbon_pink.png"/>
          <p:cNvPicPr preferRelativeResize="0"/>
          <p:nvPr/>
        </p:nvPicPr>
        <p:blipFill rotWithShape="1">
          <a:blip r:embed="rId3">
            <a:alphaModFix/>
          </a:blip>
          <a:srcRect/>
          <a:stretch/>
        </p:blipFill>
        <p:spPr>
          <a:xfrm>
            <a:off x="777240" y="1051560"/>
            <a:ext cx="201168" cy="265176"/>
          </a:xfrm>
          <a:prstGeom prst="rect">
            <a:avLst/>
          </a:prstGeom>
          <a:noFill/>
          <a:ln>
            <a:noFill/>
          </a:ln>
        </p:spPr>
      </p:pic>
      <p:sp>
        <p:nvSpPr>
          <p:cNvPr id="116" name="Google Shape;116;p3"/>
          <p:cNvSpPr/>
          <p:nvPr/>
        </p:nvSpPr>
        <p:spPr>
          <a:xfrm>
            <a:off x="1051560" y="996696"/>
            <a:ext cx="3657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400"/>
              <a:buFont typeface="Georgia"/>
              <a:buNone/>
            </a:pPr>
            <a:r>
              <a:rPr lang="en-US" sz="1400" b="0" i="1" u="none" strike="noStrike" cap="none">
                <a:solidFill>
                  <a:srgbClr val="FFFFFF"/>
                </a:solidFill>
                <a:latin typeface="Georgia"/>
                <a:ea typeface="Georgia"/>
                <a:cs typeface="Georgia"/>
                <a:sym typeface="Georgia"/>
              </a:rPr>
              <a:t>Cœur en Rose</a:t>
            </a:r>
            <a:endParaRPr sz="1400" b="0" i="0" u="none" strike="noStrike" cap="none">
              <a:solidFill>
                <a:schemeClr val="dk1"/>
              </a:solidFill>
              <a:latin typeface="Calibri"/>
              <a:ea typeface="Calibri"/>
              <a:cs typeface="Calibri"/>
              <a:sym typeface="Calibri"/>
            </a:endParaRPr>
          </a:p>
        </p:txBody>
      </p:sp>
      <p:sp>
        <p:nvSpPr>
          <p:cNvPr id="117" name="Google Shape;117;p3"/>
          <p:cNvSpPr/>
          <p:nvPr/>
        </p:nvSpPr>
        <p:spPr>
          <a:xfrm>
            <a:off x="1051560" y="1271016"/>
            <a:ext cx="6949440"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800"/>
              <a:buFont typeface="Poppins"/>
              <a:buNone/>
            </a:pPr>
            <a:r>
              <a:rPr lang="en-US" sz="800" b="0" i="0" u="none" strike="noStrike" cap="none">
                <a:solidFill>
                  <a:srgbClr val="FFFFFF"/>
                </a:solidFill>
                <a:latin typeface="Poppins"/>
                <a:ea typeface="Poppins"/>
                <a:cs typeface="Poppins"/>
                <a:sym typeface="Poppins"/>
              </a:rPr>
              <a:t>GALA SOLIDAIRE · COTONOU · OCT. 2026</a:t>
            </a:r>
            <a:endParaRPr sz="800" b="0" i="0" u="none" strike="noStrike" cap="none">
              <a:solidFill>
                <a:schemeClr val="dk1"/>
              </a:solidFill>
              <a:latin typeface="Calibri"/>
              <a:ea typeface="Calibri"/>
              <a:cs typeface="Calibri"/>
              <a:sym typeface="Calibri"/>
            </a:endParaRPr>
          </a:p>
        </p:txBody>
      </p:sp>
      <p:sp>
        <p:nvSpPr>
          <p:cNvPr id="118" name="Google Shape;118;p3"/>
          <p:cNvSpPr/>
          <p:nvPr/>
        </p:nvSpPr>
        <p:spPr>
          <a:xfrm>
            <a:off x="777240" y="1645920"/>
            <a:ext cx="722376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3000"/>
              <a:buFont typeface="Georgia"/>
              <a:buNone/>
            </a:pPr>
            <a:r>
              <a:rPr lang="en-US" sz="3000" b="0" i="1" u="none" strike="noStrike" cap="none">
                <a:solidFill>
                  <a:srgbClr val="FFFFFF"/>
                </a:solidFill>
                <a:latin typeface="Georgia"/>
                <a:ea typeface="Georgia"/>
                <a:cs typeface="Georgia"/>
                <a:sym typeface="Georgia"/>
              </a:rPr>
              <a:t>Cœur d'Or</a:t>
            </a:r>
            <a:endParaRPr sz="3000" b="0" i="0" u="none" strike="noStrike" cap="none">
              <a:solidFill>
                <a:schemeClr val="dk1"/>
              </a:solidFill>
              <a:latin typeface="Calibri"/>
              <a:ea typeface="Calibri"/>
              <a:cs typeface="Calibri"/>
              <a:sym typeface="Calibri"/>
            </a:endParaRPr>
          </a:p>
        </p:txBody>
      </p:sp>
      <p:sp>
        <p:nvSpPr>
          <p:cNvPr id="119" name="Google Shape;119;p3"/>
          <p:cNvSpPr/>
          <p:nvPr/>
        </p:nvSpPr>
        <p:spPr>
          <a:xfrm>
            <a:off x="777240" y="2167128"/>
            <a:ext cx="740664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Poppins"/>
              <a:buNone/>
            </a:pPr>
            <a:r>
              <a:rPr lang="en-US" sz="1000" b="0" i="0" u="none" strike="noStrike" cap="none">
                <a:solidFill>
                  <a:srgbClr val="FFFFFF"/>
                </a:solidFill>
                <a:latin typeface="Poppins"/>
                <a:ea typeface="Poppins"/>
                <a:cs typeface="Poppins"/>
                <a:sym typeface="Poppins"/>
              </a:rPr>
              <a:t>TICKET PRESTIGE · 15 PLACES</a:t>
            </a:r>
            <a:endParaRPr sz="1000" b="0" i="0" u="none" strike="noStrike" cap="none">
              <a:solidFill>
                <a:schemeClr val="dk1"/>
              </a:solidFill>
              <a:latin typeface="Calibri"/>
              <a:ea typeface="Calibri"/>
              <a:cs typeface="Calibri"/>
              <a:sym typeface="Calibri"/>
            </a:endParaRPr>
          </a:p>
        </p:txBody>
      </p:sp>
      <p:sp>
        <p:nvSpPr>
          <p:cNvPr id="120" name="Google Shape;120;p3"/>
          <p:cNvSpPr/>
          <p:nvPr/>
        </p:nvSpPr>
        <p:spPr>
          <a:xfrm>
            <a:off x="777240" y="2606040"/>
            <a:ext cx="7223760" cy="237744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FFFFFF"/>
              </a:buClr>
              <a:buSzPts val="1200"/>
              <a:buFont typeface="Poppins"/>
              <a:buChar char="—"/>
            </a:pPr>
            <a:r>
              <a:rPr lang="en-US" sz="1200" b="0" i="0" u="none" strike="noStrike" cap="none">
                <a:solidFill>
                  <a:srgbClr val="FFFFFF"/>
                </a:solidFill>
                <a:latin typeface="Poppins"/>
                <a:ea typeface="Poppins"/>
                <a:cs typeface="Poppins"/>
                <a:sym typeface="Poppins"/>
              </a:rPr>
              <a:t>Table 1ᵉʳ rang face à la scène</a:t>
            </a:r>
            <a:endParaRPr sz="12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FFFFFF"/>
              </a:buClr>
              <a:buSzPts val="1200"/>
              <a:buFont typeface="Poppins"/>
              <a:buChar char="—"/>
            </a:pPr>
            <a:r>
              <a:rPr lang="en-US" sz="1200" b="0" i="0" u="none" strike="noStrike" cap="none">
                <a:solidFill>
                  <a:srgbClr val="FFFFFF"/>
                </a:solidFill>
                <a:latin typeface="Poppins"/>
                <a:ea typeface="Poppins"/>
                <a:cs typeface="Poppins"/>
                <a:sym typeface="Poppins"/>
              </a:rPr>
              <a:t>Cocktail privé VIP avant le gala</a:t>
            </a:r>
            <a:endParaRPr sz="12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FFFFFF"/>
              </a:buClr>
              <a:buSzPts val="1200"/>
              <a:buFont typeface="Poppins"/>
              <a:buChar char="—"/>
            </a:pPr>
            <a:r>
              <a:rPr lang="en-US" sz="1200" b="0" i="0" u="none" strike="noStrike" cap="none">
                <a:solidFill>
                  <a:srgbClr val="FFFFFF"/>
                </a:solidFill>
                <a:latin typeface="Poppins"/>
                <a:ea typeface="Poppins"/>
                <a:cs typeface="Poppins"/>
                <a:sym typeface="Poppins"/>
              </a:rPr>
              <a:t>Photo officielle avec marraines et autorités</a:t>
            </a:r>
            <a:endParaRPr sz="12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FFFFFF"/>
              </a:buClr>
              <a:buSzPts val="1200"/>
              <a:buFont typeface="Poppins"/>
              <a:buChar char="—"/>
            </a:pPr>
            <a:r>
              <a:rPr lang="en-US" sz="1200" b="0" i="0" u="none" strike="noStrike" cap="none">
                <a:solidFill>
                  <a:srgbClr val="FFFFFF"/>
                </a:solidFill>
                <a:latin typeface="Poppins"/>
                <a:ea typeface="Poppins"/>
                <a:cs typeface="Poppins"/>
                <a:sym typeface="Poppins"/>
              </a:rPr>
              <a:t>Mention nominative à l'écran et au programme</a:t>
            </a:r>
            <a:endParaRPr sz="12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FFFFFF"/>
              </a:buClr>
              <a:buSzPts val="1200"/>
              <a:buFont typeface="Poppins"/>
              <a:buChar char="—"/>
            </a:pPr>
            <a:r>
              <a:rPr lang="en-US" sz="1200" b="0" i="0" u="none" strike="noStrike" cap="none">
                <a:solidFill>
                  <a:srgbClr val="FFFFFF"/>
                </a:solidFill>
                <a:latin typeface="Poppins"/>
                <a:ea typeface="Poppins"/>
                <a:cs typeface="Poppins"/>
                <a:sym typeface="Poppins"/>
              </a:rPr>
              <a:t>Reçu-impact personnalisé + cadeau souvenir</a:t>
            </a:r>
            <a:endParaRPr sz="1200" b="0" i="0" u="none" strike="noStrike" cap="none">
              <a:solidFill>
                <a:schemeClr val="dk1"/>
              </a:solidFill>
              <a:latin typeface="Calibri"/>
              <a:ea typeface="Calibri"/>
              <a:cs typeface="Calibri"/>
              <a:sym typeface="Calibri"/>
            </a:endParaRPr>
          </a:p>
        </p:txBody>
      </p:sp>
      <p:sp>
        <p:nvSpPr>
          <p:cNvPr id="121" name="Google Shape;121;p3"/>
          <p:cNvSpPr/>
          <p:nvPr/>
        </p:nvSpPr>
        <p:spPr>
          <a:xfrm>
            <a:off x="777240" y="5486400"/>
            <a:ext cx="5111496"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800"/>
              <a:buFont typeface="Poppins"/>
              <a:buNone/>
            </a:pPr>
            <a:r>
              <a:rPr lang="en-US" sz="800" b="0" i="0" u="none" strike="noStrike" cap="none">
                <a:solidFill>
                  <a:srgbClr val="FFFFFF"/>
                </a:solidFill>
                <a:latin typeface="Poppins"/>
                <a:ea typeface="Poppins"/>
                <a:cs typeface="Poppins"/>
                <a:sym typeface="Poppins"/>
              </a:rPr>
              <a:t>UN DON, UN EXAMEN, UNE VIE SAUVÉE</a:t>
            </a:r>
            <a:endParaRPr sz="800" b="0" i="0" u="none" strike="noStrike" cap="none">
              <a:solidFill>
                <a:schemeClr val="dk1"/>
              </a:solidFill>
              <a:latin typeface="Calibri"/>
              <a:ea typeface="Calibri"/>
              <a:cs typeface="Calibri"/>
              <a:sym typeface="Calibri"/>
            </a:endParaRPr>
          </a:p>
        </p:txBody>
      </p:sp>
      <p:sp>
        <p:nvSpPr>
          <p:cNvPr id="122" name="Google Shape;122;p3"/>
          <p:cNvSpPr/>
          <p:nvPr/>
        </p:nvSpPr>
        <p:spPr>
          <a:xfrm>
            <a:off x="5669280" y="5486400"/>
            <a:ext cx="233172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FFFFFF"/>
              </a:buClr>
              <a:buSzPts val="800"/>
              <a:buFont typeface="Poppins"/>
              <a:buNone/>
            </a:pPr>
            <a:r>
              <a:rPr lang="en-US" sz="800" b="0" i="0" u="none" strike="noStrike" cap="none">
                <a:solidFill>
                  <a:srgbClr val="FFFFFF"/>
                </a:solidFill>
                <a:latin typeface="Poppins"/>
                <a:ea typeface="Poppins"/>
                <a:cs typeface="Poppins"/>
                <a:sym typeface="Poppins"/>
              </a:rPr>
              <a:t>BILLET N° ______</a:t>
            </a:r>
            <a:endParaRPr sz="800" b="0" i="0" u="none" strike="noStrike" cap="none">
              <a:solidFill>
                <a:schemeClr val="dk1"/>
              </a:solidFill>
              <a:latin typeface="Calibri"/>
              <a:ea typeface="Calibri"/>
              <a:cs typeface="Calibri"/>
              <a:sym typeface="Calibri"/>
            </a:endParaRPr>
          </a:p>
        </p:txBody>
      </p:sp>
      <p:sp>
        <p:nvSpPr>
          <p:cNvPr id="123" name="Google Shape;123;p3"/>
          <p:cNvSpPr/>
          <p:nvPr/>
        </p:nvSpPr>
        <p:spPr>
          <a:xfrm>
            <a:off x="8458200" y="1097280"/>
            <a:ext cx="329184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E5B2"/>
              </a:buClr>
              <a:buSzPts val="1100"/>
              <a:buFont typeface="Georgia"/>
              <a:buNone/>
            </a:pPr>
            <a:r>
              <a:rPr lang="en-US" sz="1100" b="0" i="1" u="none" strike="noStrike" cap="none">
                <a:solidFill>
                  <a:srgbClr val="F4E5B2"/>
                </a:solidFill>
                <a:latin typeface="Georgia"/>
                <a:ea typeface="Georgia"/>
                <a:cs typeface="Georgia"/>
                <a:sym typeface="Georgia"/>
              </a:rPr>
              <a:t>CŒUR D'OR</a:t>
            </a:r>
            <a:endParaRPr sz="1100" b="0" i="0" u="none" strike="noStrike" cap="none">
              <a:solidFill>
                <a:schemeClr val="dk1"/>
              </a:solidFill>
              <a:latin typeface="Calibri"/>
              <a:ea typeface="Calibri"/>
              <a:cs typeface="Calibri"/>
              <a:sym typeface="Calibri"/>
            </a:endParaRPr>
          </a:p>
        </p:txBody>
      </p:sp>
      <p:sp>
        <p:nvSpPr>
          <p:cNvPr id="124" name="Google Shape;124;p3"/>
          <p:cNvSpPr/>
          <p:nvPr/>
        </p:nvSpPr>
        <p:spPr>
          <a:xfrm>
            <a:off x="8458200" y="1691640"/>
            <a:ext cx="329184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E5B2"/>
              </a:buClr>
              <a:buSzPts val="2200"/>
              <a:buFont typeface="Georgia"/>
              <a:buNone/>
            </a:pPr>
            <a:r>
              <a:rPr lang="en-US" sz="2200" b="1" i="0" u="none" strike="noStrike" cap="none">
                <a:solidFill>
                  <a:srgbClr val="F4E5B2"/>
                </a:solidFill>
                <a:latin typeface="Georgia"/>
                <a:ea typeface="Georgia"/>
                <a:cs typeface="Georgia"/>
                <a:sym typeface="Georgia"/>
              </a:rPr>
              <a:t>150 000 FCFA</a:t>
            </a:r>
            <a:endParaRPr sz="2200" b="0" i="0" u="none" strike="noStrike" cap="none">
              <a:solidFill>
                <a:schemeClr val="dk1"/>
              </a:solidFill>
              <a:latin typeface="Calibri"/>
              <a:ea typeface="Calibri"/>
              <a:cs typeface="Calibri"/>
              <a:sym typeface="Calibri"/>
            </a:endParaRPr>
          </a:p>
        </p:txBody>
      </p:sp>
      <p:sp>
        <p:nvSpPr>
          <p:cNvPr id="125" name="Google Shape;125;p3"/>
          <p:cNvSpPr/>
          <p:nvPr/>
        </p:nvSpPr>
        <p:spPr>
          <a:xfrm>
            <a:off x="8458200" y="2194560"/>
            <a:ext cx="329184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E5B2"/>
              </a:buClr>
              <a:buSzPts val="900"/>
              <a:buFont typeface="Poppins"/>
              <a:buNone/>
            </a:pPr>
            <a:r>
              <a:rPr lang="en-US" sz="900" b="0" i="0" u="none" strike="noStrike" cap="none">
                <a:solidFill>
                  <a:srgbClr val="F4E5B2"/>
                </a:solidFill>
                <a:latin typeface="Poppins"/>
                <a:ea typeface="Poppins"/>
                <a:cs typeface="Poppins"/>
                <a:sym typeface="Poppins"/>
              </a:rPr>
              <a:t>1 place</a:t>
            </a:r>
            <a:endParaRPr sz="900" b="0" i="0" u="none" strike="noStrike" cap="none">
              <a:solidFill>
                <a:schemeClr val="dk1"/>
              </a:solidFill>
              <a:latin typeface="Calibri"/>
              <a:ea typeface="Calibri"/>
              <a:cs typeface="Calibri"/>
              <a:sym typeface="Calibri"/>
            </a:endParaRPr>
          </a:p>
        </p:txBody>
      </p:sp>
      <p:sp>
        <p:nvSpPr>
          <p:cNvPr id="126" name="Google Shape;126;p3"/>
          <p:cNvSpPr/>
          <p:nvPr/>
        </p:nvSpPr>
        <p:spPr>
          <a:xfrm>
            <a:off x="8458200" y="2560320"/>
            <a:ext cx="329184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E5B2"/>
              </a:buClr>
              <a:buSzPts val="1000"/>
              <a:buFont typeface="Poppins"/>
              <a:buNone/>
            </a:pPr>
            <a:r>
              <a:rPr lang="en-US" sz="1000" b="1" i="0" u="none" strike="noStrike" cap="none">
                <a:solidFill>
                  <a:srgbClr val="F4E5B2"/>
                </a:solidFill>
                <a:latin typeface="Poppins"/>
                <a:ea typeface="Poppins"/>
                <a:cs typeface="Poppins"/>
                <a:sym typeface="Poppins"/>
              </a:rPr>
              <a:t>Places : 15</a:t>
            </a:r>
            <a:endParaRPr sz="1000" b="0" i="0" u="none" strike="noStrike" cap="none">
              <a:solidFill>
                <a:schemeClr val="dk1"/>
              </a:solidFill>
              <a:latin typeface="Calibri"/>
              <a:ea typeface="Calibri"/>
              <a:cs typeface="Calibri"/>
              <a:sym typeface="Calibri"/>
            </a:endParaRPr>
          </a:p>
        </p:txBody>
      </p:sp>
      <p:sp>
        <p:nvSpPr>
          <p:cNvPr id="147" name="Google Shape;147;p3"/>
          <p:cNvSpPr/>
          <p:nvPr/>
        </p:nvSpPr>
        <p:spPr>
          <a:xfrm>
            <a:off x="8366760" y="4206240"/>
            <a:ext cx="338328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E5B2"/>
              </a:buClr>
              <a:buSzPts val="800"/>
              <a:buFont typeface="Poppins"/>
              <a:buNone/>
            </a:pPr>
            <a:r>
              <a:rPr lang="en-US" sz="800" b="0" i="0" u="none" strike="noStrike" cap="none">
                <a:solidFill>
                  <a:srgbClr val="F4E5B2"/>
                </a:solidFill>
                <a:latin typeface="Poppins"/>
                <a:ea typeface="Poppins"/>
                <a:cs typeface="Poppins"/>
                <a:sym typeface="Poppins"/>
              </a:rPr>
              <a:t>CER-OR-2026</a:t>
            </a:r>
            <a:endParaRPr sz="800" b="0" i="0" u="none" strike="noStrike" cap="none">
              <a:solidFill>
                <a:schemeClr val="dk1"/>
              </a:solidFill>
              <a:latin typeface="Calibri"/>
              <a:ea typeface="Calibri"/>
              <a:cs typeface="Calibri"/>
              <a:sym typeface="Calibri"/>
            </a:endParaRPr>
          </a:p>
        </p:txBody>
      </p:sp>
      <p:pic>
        <p:nvPicPr>
          <p:cNvPr id="148" name="Picture 147" descr="qr_CER-OR-2026.png"/>
          <p:cNvPicPr>
            <a:picLocks noChangeAspect="1"/>
          </p:cNvPicPr>
          <p:nvPr/>
        </p:nvPicPr>
        <p:blipFill>
          <a:blip r:embed="rId4"/>
          <a:stretch>
            <a:fillRect/>
          </a:stretch>
        </p:blipFill>
        <p:spPr>
          <a:xfrm>
            <a:off x="9578340" y="3063240"/>
            <a:ext cx="1005840" cy="10058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2"/>
        <p:cNvGrpSpPr/>
        <p:nvPr/>
      </p:nvGrpSpPr>
      <p:grpSpPr>
        <a:xfrm>
          <a:off x="0" y="0"/>
          <a:ext cx="0" cy="0"/>
          <a:chOff x="0" y="0"/>
          <a:chExt cx="0" cy="0"/>
        </a:xfrm>
      </p:grpSpPr>
      <p:sp>
        <p:nvSpPr>
          <p:cNvPr id="153" name="Google Shape;153;p4"/>
          <p:cNvSpPr/>
          <p:nvPr/>
        </p:nvSpPr>
        <p:spPr>
          <a:xfrm>
            <a:off x="457200" y="228600"/>
            <a:ext cx="1124712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8078"/>
              </a:buClr>
              <a:buSzPts val="1300"/>
              <a:buFont typeface="Georgia"/>
              <a:buNone/>
            </a:pPr>
            <a:r>
              <a:rPr lang="en-US" sz="1300" b="0" i="0" u="none" strike="noStrike" cap="none">
                <a:solidFill>
                  <a:srgbClr val="8A8078"/>
                </a:solidFill>
                <a:latin typeface="Georgia"/>
                <a:ea typeface="Georgia"/>
                <a:cs typeface="Georgia"/>
                <a:sym typeface="Georgia"/>
              </a:rPr>
              <a:t>4. Table Entreprise</a:t>
            </a:r>
            <a:endParaRPr sz="1300" b="0" i="0" u="none" strike="noStrike" cap="none">
              <a:solidFill>
                <a:schemeClr val="dk1"/>
              </a:solidFill>
              <a:latin typeface="Calibri"/>
              <a:ea typeface="Calibri"/>
              <a:cs typeface="Calibri"/>
              <a:sym typeface="Calibri"/>
            </a:endParaRPr>
          </a:p>
        </p:txBody>
      </p:sp>
      <p:sp>
        <p:nvSpPr>
          <p:cNvPr id="154" name="Google Shape;154;p4"/>
          <p:cNvSpPr/>
          <p:nvPr/>
        </p:nvSpPr>
        <p:spPr>
          <a:xfrm>
            <a:off x="457200" y="777240"/>
            <a:ext cx="7863840" cy="5120640"/>
          </a:xfrm>
          <a:prstGeom prst="roundRect">
            <a:avLst>
              <a:gd name="adj" fmla="val 2143"/>
            </a:avLst>
          </a:prstGeom>
          <a:solidFill>
            <a:srgbClr val="C00000"/>
          </a:solidFill>
          <a:ln>
            <a:noFill/>
          </a:ln>
          <a:effectLst>
            <a:outerShdw blurRad="228600" dist="76200" dir="5400000" algn="bl" rotWithShape="0">
              <a:srgbClr val="000000">
                <a:alpha val="3490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8183880" y="777240"/>
            <a:ext cx="3520440" cy="5120640"/>
          </a:xfrm>
          <a:prstGeom prst="roundRect">
            <a:avLst>
              <a:gd name="adj" fmla="val 3117"/>
            </a:avLst>
          </a:prstGeom>
          <a:solidFill>
            <a:srgbClr val="7A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8174736" y="886968"/>
            <a:ext cx="164592" cy="4901184"/>
          </a:xfrm>
          <a:prstGeom prst="rect">
            <a:avLst/>
          </a:prstGeom>
          <a:solidFill>
            <a:srgbClr val="C00000"/>
          </a:solidFill>
          <a:ln w="12700"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7" name="Google Shape;157;p4"/>
          <p:cNvCxnSpPr/>
          <p:nvPr/>
        </p:nvCxnSpPr>
        <p:spPr>
          <a:xfrm>
            <a:off x="8321040" y="777240"/>
            <a:ext cx="0" cy="5120640"/>
          </a:xfrm>
          <a:prstGeom prst="straightConnector1">
            <a:avLst/>
          </a:prstGeom>
          <a:noFill/>
          <a:ln w="19050" cap="flat" cmpd="sng">
            <a:solidFill>
              <a:srgbClr val="FFFFFF">
                <a:alpha val="70196"/>
              </a:srgbClr>
            </a:solidFill>
            <a:prstDash val="dash"/>
            <a:round/>
            <a:headEnd type="none" w="sm" len="sm"/>
            <a:tailEnd type="none" w="sm" len="sm"/>
          </a:ln>
        </p:spPr>
      </p:cxnSp>
      <p:sp>
        <p:nvSpPr>
          <p:cNvPr id="158" name="Google Shape;158;p4"/>
          <p:cNvSpPr/>
          <p:nvPr/>
        </p:nvSpPr>
        <p:spPr>
          <a:xfrm>
            <a:off x="8193024" y="649224"/>
            <a:ext cx="256032" cy="256032"/>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8193024" y="5769864"/>
            <a:ext cx="256032" cy="256032"/>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0" name="Google Shape;160;p4" descr="/home/claude/gala/pptx/ribbon_pink.png"/>
          <p:cNvPicPr preferRelativeResize="0"/>
          <p:nvPr/>
        </p:nvPicPr>
        <p:blipFill rotWithShape="1">
          <a:blip r:embed="rId3">
            <a:alphaModFix/>
          </a:blip>
          <a:srcRect/>
          <a:stretch/>
        </p:blipFill>
        <p:spPr>
          <a:xfrm>
            <a:off x="777240" y="1051560"/>
            <a:ext cx="201168" cy="265176"/>
          </a:xfrm>
          <a:prstGeom prst="rect">
            <a:avLst/>
          </a:prstGeom>
          <a:noFill/>
          <a:ln>
            <a:noFill/>
          </a:ln>
        </p:spPr>
      </p:pic>
      <p:sp>
        <p:nvSpPr>
          <p:cNvPr id="161" name="Google Shape;161;p4"/>
          <p:cNvSpPr/>
          <p:nvPr/>
        </p:nvSpPr>
        <p:spPr>
          <a:xfrm>
            <a:off x="1051560" y="996696"/>
            <a:ext cx="3657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400"/>
              <a:buFont typeface="Georgia"/>
              <a:buNone/>
            </a:pPr>
            <a:r>
              <a:rPr lang="en-US" sz="1400" b="0" i="1" u="none" strike="noStrike" cap="none">
                <a:solidFill>
                  <a:srgbClr val="FFFFFF"/>
                </a:solidFill>
                <a:latin typeface="Georgia"/>
                <a:ea typeface="Georgia"/>
                <a:cs typeface="Georgia"/>
                <a:sym typeface="Georgia"/>
              </a:rPr>
              <a:t>Cœur en Rose</a:t>
            </a:r>
            <a:endParaRPr sz="1400" b="0" i="0" u="none" strike="noStrike" cap="none">
              <a:solidFill>
                <a:schemeClr val="dk1"/>
              </a:solidFill>
              <a:latin typeface="Calibri"/>
              <a:ea typeface="Calibri"/>
              <a:cs typeface="Calibri"/>
              <a:sym typeface="Calibri"/>
            </a:endParaRPr>
          </a:p>
        </p:txBody>
      </p:sp>
      <p:sp>
        <p:nvSpPr>
          <p:cNvPr id="162" name="Google Shape;162;p4"/>
          <p:cNvSpPr/>
          <p:nvPr/>
        </p:nvSpPr>
        <p:spPr>
          <a:xfrm>
            <a:off x="1051560" y="1271016"/>
            <a:ext cx="6949440"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800"/>
              <a:buFont typeface="Poppins"/>
              <a:buNone/>
            </a:pPr>
            <a:r>
              <a:rPr lang="en-US" sz="800" b="0" i="0" u="none" strike="noStrike" cap="none">
                <a:solidFill>
                  <a:srgbClr val="FFFFFF"/>
                </a:solidFill>
                <a:latin typeface="Poppins"/>
                <a:ea typeface="Poppins"/>
                <a:cs typeface="Poppins"/>
                <a:sym typeface="Poppins"/>
              </a:rPr>
              <a:t>GALA SOLIDAIRE · COTONOU · OCT. 2026</a:t>
            </a:r>
            <a:endParaRPr sz="800" b="0" i="0" u="none" strike="noStrike" cap="none">
              <a:solidFill>
                <a:schemeClr val="dk1"/>
              </a:solidFill>
              <a:latin typeface="Calibri"/>
              <a:ea typeface="Calibri"/>
              <a:cs typeface="Calibri"/>
              <a:sym typeface="Calibri"/>
            </a:endParaRPr>
          </a:p>
        </p:txBody>
      </p:sp>
      <p:sp>
        <p:nvSpPr>
          <p:cNvPr id="163" name="Google Shape;163;p4"/>
          <p:cNvSpPr/>
          <p:nvPr/>
        </p:nvSpPr>
        <p:spPr>
          <a:xfrm>
            <a:off x="777240" y="1645920"/>
            <a:ext cx="722376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3000"/>
              <a:buFont typeface="Georgia"/>
              <a:buNone/>
            </a:pPr>
            <a:r>
              <a:rPr lang="en-US" sz="3000" b="0" i="1" u="none" strike="noStrike" cap="none">
                <a:solidFill>
                  <a:srgbClr val="FFFFFF"/>
                </a:solidFill>
                <a:latin typeface="Georgia"/>
                <a:ea typeface="Georgia"/>
                <a:cs typeface="Georgia"/>
                <a:sym typeface="Georgia"/>
              </a:rPr>
              <a:t>Table Partenaire</a:t>
            </a:r>
            <a:endParaRPr sz="3000" b="0" i="0" u="none" strike="noStrike" cap="none">
              <a:solidFill>
                <a:schemeClr val="dk1"/>
              </a:solidFill>
              <a:latin typeface="Calibri"/>
              <a:ea typeface="Calibri"/>
              <a:cs typeface="Calibri"/>
              <a:sym typeface="Calibri"/>
            </a:endParaRPr>
          </a:p>
        </p:txBody>
      </p:sp>
      <p:sp>
        <p:nvSpPr>
          <p:cNvPr id="164" name="Google Shape;164;p4"/>
          <p:cNvSpPr/>
          <p:nvPr/>
        </p:nvSpPr>
        <p:spPr>
          <a:xfrm>
            <a:off x="777240" y="2167128"/>
            <a:ext cx="740664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Poppins"/>
              <a:buNone/>
            </a:pPr>
            <a:r>
              <a:rPr lang="en-US" sz="1000" b="0" i="0" u="none" strike="noStrike" cap="none">
                <a:solidFill>
                  <a:srgbClr val="FFFFFF"/>
                </a:solidFill>
                <a:latin typeface="Poppins"/>
                <a:ea typeface="Poppins"/>
                <a:cs typeface="Poppins"/>
                <a:sym typeface="Poppins"/>
              </a:rPr>
              <a:t>8 PLACES VIP</a:t>
            </a:r>
            <a:endParaRPr sz="1000" b="0" i="0" u="none" strike="noStrike" cap="none">
              <a:solidFill>
                <a:schemeClr val="dk1"/>
              </a:solidFill>
              <a:latin typeface="Calibri"/>
              <a:ea typeface="Calibri"/>
              <a:cs typeface="Calibri"/>
              <a:sym typeface="Calibri"/>
            </a:endParaRPr>
          </a:p>
        </p:txBody>
      </p:sp>
      <p:sp>
        <p:nvSpPr>
          <p:cNvPr id="165" name="Google Shape;165;p4"/>
          <p:cNvSpPr/>
          <p:nvPr/>
        </p:nvSpPr>
        <p:spPr>
          <a:xfrm>
            <a:off x="777240" y="2606040"/>
            <a:ext cx="7223760" cy="237744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FFFFFF"/>
              </a:buClr>
              <a:buSzPts val="1200"/>
              <a:buFont typeface="Poppins"/>
              <a:buChar char="—"/>
            </a:pPr>
            <a:r>
              <a:rPr lang="en-US" sz="1200" b="0" i="0" u="none" strike="noStrike" cap="none">
                <a:solidFill>
                  <a:srgbClr val="FFFFFF"/>
                </a:solidFill>
                <a:latin typeface="Poppins"/>
                <a:ea typeface="Poppins"/>
                <a:cs typeface="Poppins"/>
                <a:sym typeface="Poppins"/>
              </a:rPr>
              <a:t>8 places en zone VIP pour l'entreprise</a:t>
            </a:r>
            <a:endParaRPr sz="12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FFFFFF"/>
              </a:buClr>
              <a:buSzPts val="1200"/>
              <a:buFont typeface="Poppins"/>
              <a:buChar char="—"/>
            </a:pPr>
            <a:r>
              <a:rPr lang="en-US" sz="1200" b="0" i="0" u="none" strike="noStrike" cap="none">
                <a:solidFill>
                  <a:srgbClr val="FFFFFF"/>
                </a:solidFill>
                <a:latin typeface="Poppins"/>
                <a:ea typeface="Poppins"/>
                <a:cs typeface="Poppins"/>
                <a:sym typeface="Poppins"/>
              </a:rPr>
              <a:t>Logo visible sur la table durant la soirée</a:t>
            </a:r>
            <a:endParaRPr sz="12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FFFFFF"/>
              </a:buClr>
              <a:buSzPts val="1200"/>
              <a:buFont typeface="Poppins"/>
              <a:buChar char="—"/>
            </a:pPr>
            <a:r>
              <a:rPr lang="en-US" sz="1200" b="0" i="0" u="none" strike="noStrike" cap="none">
                <a:solidFill>
                  <a:srgbClr val="FFFFFF"/>
                </a:solidFill>
                <a:latin typeface="Poppins"/>
                <a:ea typeface="Poppins"/>
                <a:cs typeface="Poppins"/>
                <a:sym typeface="Poppins"/>
              </a:rPr>
              <a:t>Mention comme table partenaire au micro</a:t>
            </a:r>
            <a:endParaRPr sz="12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FFFFFF"/>
              </a:buClr>
              <a:buSzPts val="1200"/>
              <a:buFont typeface="Poppins"/>
              <a:buChar char="—"/>
            </a:pPr>
            <a:r>
              <a:rPr lang="en-US" sz="1200" b="0" i="0" u="none" strike="noStrike" cap="none">
                <a:solidFill>
                  <a:srgbClr val="FFFFFF"/>
                </a:solidFill>
                <a:latin typeface="Poppins"/>
                <a:ea typeface="Poppins"/>
                <a:cs typeface="Poppins"/>
                <a:sym typeface="Poppins"/>
              </a:rPr>
              <a:t>Reçu-impact collectif au nom de l'entreprise</a:t>
            </a:r>
            <a:endParaRPr sz="12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FFFFFF"/>
              </a:buClr>
              <a:buSzPts val="1200"/>
              <a:buFont typeface="Poppins"/>
              <a:buChar char="—"/>
            </a:pPr>
            <a:r>
              <a:rPr lang="en-US" sz="1200" b="0" i="0" u="none" strike="noStrike" cap="none">
                <a:solidFill>
                  <a:srgbClr val="FFFFFF"/>
                </a:solidFill>
                <a:latin typeface="Poppins"/>
                <a:ea typeface="Poppins"/>
                <a:cs typeface="Poppins"/>
                <a:sym typeface="Poppins"/>
              </a:rPr>
              <a:t>Photo officielle de groupe avec bannière</a:t>
            </a:r>
            <a:endParaRPr sz="1200" b="0" i="0" u="none" strike="noStrike" cap="none">
              <a:solidFill>
                <a:schemeClr val="dk1"/>
              </a:solidFill>
              <a:latin typeface="Calibri"/>
              <a:ea typeface="Calibri"/>
              <a:cs typeface="Calibri"/>
              <a:sym typeface="Calibri"/>
            </a:endParaRPr>
          </a:p>
        </p:txBody>
      </p:sp>
      <p:sp>
        <p:nvSpPr>
          <p:cNvPr id="166" name="Google Shape;166;p4"/>
          <p:cNvSpPr/>
          <p:nvPr/>
        </p:nvSpPr>
        <p:spPr>
          <a:xfrm>
            <a:off x="777240" y="5486400"/>
            <a:ext cx="5111496"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800"/>
              <a:buFont typeface="Poppins"/>
              <a:buNone/>
            </a:pPr>
            <a:r>
              <a:rPr lang="en-US" sz="800" b="0" i="0" u="none" strike="noStrike" cap="none">
                <a:solidFill>
                  <a:srgbClr val="FFFFFF"/>
                </a:solidFill>
                <a:latin typeface="Poppins"/>
                <a:ea typeface="Poppins"/>
                <a:cs typeface="Poppins"/>
                <a:sym typeface="Poppins"/>
              </a:rPr>
              <a:t>UN DON, UN EXAMEN, UNE VIE SAUVÉE</a:t>
            </a:r>
            <a:endParaRPr sz="800" b="0" i="0" u="none" strike="noStrike" cap="none">
              <a:solidFill>
                <a:schemeClr val="dk1"/>
              </a:solidFill>
              <a:latin typeface="Calibri"/>
              <a:ea typeface="Calibri"/>
              <a:cs typeface="Calibri"/>
              <a:sym typeface="Calibri"/>
            </a:endParaRPr>
          </a:p>
        </p:txBody>
      </p:sp>
      <p:sp>
        <p:nvSpPr>
          <p:cNvPr id="167" name="Google Shape;167;p4"/>
          <p:cNvSpPr/>
          <p:nvPr/>
        </p:nvSpPr>
        <p:spPr>
          <a:xfrm>
            <a:off x="5669280" y="5486400"/>
            <a:ext cx="233172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FFFFFF"/>
              </a:buClr>
              <a:buSzPts val="800"/>
              <a:buFont typeface="Poppins"/>
              <a:buNone/>
            </a:pPr>
            <a:r>
              <a:rPr lang="en-US" sz="800" b="0" i="0" u="none" strike="noStrike" cap="none">
                <a:solidFill>
                  <a:srgbClr val="FFFFFF"/>
                </a:solidFill>
                <a:latin typeface="Poppins"/>
                <a:ea typeface="Poppins"/>
                <a:cs typeface="Poppins"/>
                <a:sym typeface="Poppins"/>
              </a:rPr>
              <a:t>BILLET N° ______</a:t>
            </a:r>
            <a:endParaRPr sz="800" b="0" i="0" u="none" strike="noStrike" cap="none">
              <a:solidFill>
                <a:schemeClr val="dk1"/>
              </a:solidFill>
              <a:latin typeface="Calibri"/>
              <a:ea typeface="Calibri"/>
              <a:cs typeface="Calibri"/>
              <a:sym typeface="Calibri"/>
            </a:endParaRPr>
          </a:p>
        </p:txBody>
      </p:sp>
      <p:sp>
        <p:nvSpPr>
          <p:cNvPr id="168" name="Google Shape;168;p4"/>
          <p:cNvSpPr/>
          <p:nvPr/>
        </p:nvSpPr>
        <p:spPr>
          <a:xfrm>
            <a:off x="8458200" y="1097280"/>
            <a:ext cx="329184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E5B2"/>
              </a:buClr>
              <a:buSzPts val="1100"/>
              <a:buFont typeface="Georgia"/>
              <a:buNone/>
            </a:pPr>
            <a:r>
              <a:rPr lang="en-US" sz="1100" b="0" i="1" u="none" strike="noStrike" cap="none">
                <a:solidFill>
                  <a:srgbClr val="F4E5B2"/>
                </a:solidFill>
                <a:latin typeface="Georgia"/>
                <a:ea typeface="Georgia"/>
                <a:cs typeface="Georgia"/>
                <a:sym typeface="Georgia"/>
              </a:rPr>
              <a:t>TABLE PARTENAIRE</a:t>
            </a:r>
            <a:endParaRPr sz="1100" b="0" i="0" u="none" strike="noStrike" cap="none">
              <a:solidFill>
                <a:schemeClr val="dk1"/>
              </a:solidFill>
              <a:latin typeface="Calibri"/>
              <a:ea typeface="Calibri"/>
              <a:cs typeface="Calibri"/>
              <a:sym typeface="Calibri"/>
            </a:endParaRPr>
          </a:p>
        </p:txBody>
      </p:sp>
      <p:sp>
        <p:nvSpPr>
          <p:cNvPr id="169" name="Google Shape;169;p4"/>
          <p:cNvSpPr/>
          <p:nvPr/>
        </p:nvSpPr>
        <p:spPr>
          <a:xfrm>
            <a:off x="8458200" y="1691640"/>
            <a:ext cx="329184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E5B2"/>
              </a:buClr>
              <a:buSzPts val="2200"/>
              <a:buFont typeface="Georgia"/>
              <a:buNone/>
            </a:pPr>
            <a:r>
              <a:rPr lang="en-US" sz="2200" b="1" i="0" u="none" strike="noStrike" cap="none">
                <a:solidFill>
                  <a:srgbClr val="F4E5B2"/>
                </a:solidFill>
                <a:latin typeface="Georgia"/>
                <a:ea typeface="Georgia"/>
                <a:cs typeface="Georgia"/>
                <a:sym typeface="Georgia"/>
              </a:rPr>
              <a:t>1 600 000 FCFA</a:t>
            </a:r>
            <a:endParaRPr sz="2200" b="0" i="0" u="none" strike="noStrike" cap="none">
              <a:solidFill>
                <a:schemeClr val="dk1"/>
              </a:solidFill>
              <a:latin typeface="Calibri"/>
              <a:ea typeface="Calibri"/>
              <a:cs typeface="Calibri"/>
              <a:sym typeface="Calibri"/>
            </a:endParaRPr>
          </a:p>
        </p:txBody>
      </p:sp>
      <p:sp>
        <p:nvSpPr>
          <p:cNvPr id="170" name="Google Shape;170;p4"/>
          <p:cNvSpPr/>
          <p:nvPr/>
        </p:nvSpPr>
        <p:spPr>
          <a:xfrm>
            <a:off x="8458200" y="2194560"/>
            <a:ext cx="329184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E5B2"/>
              </a:buClr>
              <a:buSzPts val="900"/>
              <a:buFont typeface="Poppins"/>
              <a:buNone/>
            </a:pPr>
            <a:r>
              <a:rPr lang="en-US" sz="900" b="0" i="0" u="none" strike="noStrike" cap="none">
                <a:solidFill>
                  <a:srgbClr val="F4E5B2"/>
                </a:solidFill>
                <a:latin typeface="Poppins"/>
                <a:ea typeface="Poppins"/>
                <a:cs typeface="Poppins"/>
                <a:sym typeface="Poppins"/>
              </a:rPr>
              <a:t>8 places</a:t>
            </a:r>
            <a:endParaRPr sz="900" b="0" i="0" u="none" strike="noStrike" cap="none">
              <a:solidFill>
                <a:schemeClr val="dk1"/>
              </a:solidFill>
              <a:latin typeface="Calibri"/>
              <a:ea typeface="Calibri"/>
              <a:cs typeface="Calibri"/>
              <a:sym typeface="Calibri"/>
            </a:endParaRPr>
          </a:p>
        </p:txBody>
      </p:sp>
      <p:sp>
        <p:nvSpPr>
          <p:cNvPr id="171" name="Google Shape;171;p4"/>
          <p:cNvSpPr/>
          <p:nvPr/>
        </p:nvSpPr>
        <p:spPr>
          <a:xfrm>
            <a:off x="8458200" y="2560320"/>
            <a:ext cx="329184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E5B2"/>
              </a:buClr>
              <a:buSzPts val="1000"/>
              <a:buFont typeface="Poppins"/>
              <a:buNone/>
            </a:pPr>
            <a:r>
              <a:rPr lang="en-US" sz="1000" b="1" i="0" u="none" strike="noStrike" cap="none">
                <a:solidFill>
                  <a:srgbClr val="F4E5B2"/>
                </a:solidFill>
                <a:latin typeface="Poppins"/>
                <a:ea typeface="Poppins"/>
                <a:cs typeface="Poppins"/>
                <a:sym typeface="Poppins"/>
              </a:rPr>
              <a:t>Places : 8</a:t>
            </a:r>
            <a:endParaRPr sz="1000" b="0" i="0" u="none" strike="noStrike" cap="none">
              <a:solidFill>
                <a:schemeClr val="dk1"/>
              </a:solidFill>
              <a:latin typeface="Calibri"/>
              <a:ea typeface="Calibri"/>
              <a:cs typeface="Calibri"/>
              <a:sym typeface="Calibri"/>
            </a:endParaRPr>
          </a:p>
        </p:txBody>
      </p:sp>
      <p:sp>
        <p:nvSpPr>
          <p:cNvPr id="192" name="Google Shape;192;p4"/>
          <p:cNvSpPr/>
          <p:nvPr/>
        </p:nvSpPr>
        <p:spPr>
          <a:xfrm>
            <a:off x="8366760" y="4206240"/>
            <a:ext cx="338328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E5B2"/>
              </a:buClr>
              <a:buSzPts val="800"/>
              <a:buFont typeface="Poppins"/>
              <a:buNone/>
            </a:pPr>
            <a:r>
              <a:rPr lang="en-US" sz="800" b="0" i="0" u="none" strike="noStrike" cap="none">
                <a:solidFill>
                  <a:srgbClr val="F4E5B2"/>
                </a:solidFill>
                <a:latin typeface="Poppins"/>
                <a:ea typeface="Poppins"/>
                <a:cs typeface="Poppins"/>
                <a:sym typeface="Poppins"/>
              </a:rPr>
              <a:t>CER-TBL-2026</a:t>
            </a:r>
            <a:endParaRPr sz="800" b="0" i="0" u="none" strike="noStrike" cap="none">
              <a:solidFill>
                <a:schemeClr val="dk1"/>
              </a:solidFill>
              <a:latin typeface="Calibri"/>
              <a:ea typeface="Calibri"/>
              <a:cs typeface="Calibri"/>
              <a:sym typeface="Calibri"/>
            </a:endParaRPr>
          </a:p>
        </p:txBody>
      </p:sp>
      <p:pic>
        <p:nvPicPr>
          <p:cNvPr id="193" name="Picture 192" descr="qr_CER-TBL-2026.png"/>
          <p:cNvPicPr>
            <a:picLocks noChangeAspect="1"/>
          </p:cNvPicPr>
          <p:nvPr/>
        </p:nvPicPr>
        <p:blipFill>
          <a:blip r:embed="rId4"/>
          <a:stretch>
            <a:fillRect/>
          </a:stretch>
        </p:blipFill>
        <p:spPr>
          <a:xfrm>
            <a:off x="9578340" y="3063240"/>
            <a:ext cx="1005840" cy="10058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7"/>
        <p:cNvGrpSpPr/>
        <p:nvPr/>
      </p:nvGrpSpPr>
      <p:grpSpPr>
        <a:xfrm>
          <a:off x="0" y="0"/>
          <a:ext cx="0" cy="0"/>
          <a:chOff x="0" y="0"/>
          <a:chExt cx="0" cy="0"/>
        </a:xfrm>
      </p:grpSpPr>
      <p:sp>
        <p:nvSpPr>
          <p:cNvPr id="198" name="Google Shape;198;p5"/>
          <p:cNvSpPr/>
          <p:nvPr/>
        </p:nvSpPr>
        <p:spPr>
          <a:xfrm>
            <a:off x="457200" y="228600"/>
            <a:ext cx="1124712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8078"/>
              </a:buClr>
              <a:buSzPts val="1300"/>
              <a:buFont typeface="Georgia"/>
              <a:buNone/>
            </a:pPr>
            <a:r>
              <a:rPr lang="en-US" sz="1300" b="0" i="0" u="none" strike="noStrike" cap="none">
                <a:solidFill>
                  <a:srgbClr val="8A8078"/>
                </a:solidFill>
                <a:latin typeface="Georgia"/>
                <a:ea typeface="Georgia"/>
                <a:cs typeface="Georgia"/>
                <a:sym typeface="Georgia"/>
              </a:rPr>
              <a:t>5. Marraine / Parrain d'Espoir (édition limitée)</a:t>
            </a:r>
            <a:endParaRPr sz="1300" b="0" i="0" u="none" strike="noStrike" cap="none">
              <a:solidFill>
                <a:schemeClr val="dk1"/>
              </a:solidFill>
              <a:latin typeface="Calibri"/>
              <a:ea typeface="Calibri"/>
              <a:cs typeface="Calibri"/>
              <a:sym typeface="Calibri"/>
            </a:endParaRPr>
          </a:p>
        </p:txBody>
      </p:sp>
      <p:sp>
        <p:nvSpPr>
          <p:cNvPr id="199" name="Google Shape;199;p5"/>
          <p:cNvSpPr/>
          <p:nvPr/>
        </p:nvSpPr>
        <p:spPr>
          <a:xfrm>
            <a:off x="457200" y="777240"/>
            <a:ext cx="7863840" cy="5120640"/>
          </a:xfrm>
          <a:prstGeom prst="roundRect">
            <a:avLst>
              <a:gd name="adj" fmla="val 2143"/>
            </a:avLst>
          </a:prstGeom>
          <a:solidFill>
            <a:srgbClr val="12100F"/>
          </a:solidFill>
          <a:ln>
            <a:noFill/>
          </a:ln>
          <a:effectLst>
            <a:outerShdw blurRad="228600" dist="76200" dir="5400000" algn="bl" rotWithShape="0">
              <a:srgbClr val="000000">
                <a:alpha val="3490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5"/>
          <p:cNvSpPr/>
          <p:nvPr/>
        </p:nvSpPr>
        <p:spPr>
          <a:xfrm>
            <a:off x="8183880" y="777240"/>
            <a:ext cx="3520440" cy="5120640"/>
          </a:xfrm>
          <a:prstGeom prst="roundRect">
            <a:avLst>
              <a:gd name="adj" fmla="val 3117"/>
            </a:avLst>
          </a:prstGeom>
          <a:solidFill>
            <a:srgbClr val="1C18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5"/>
          <p:cNvSpPr/>
          <p:nvPr/>
        </p:nvSpPr>
        <p:spPr>
          <a:xfrm>
            <a:off x="8174736" y="886968"/>
            <a:ext cx="164592" cy="4901184"/>
          </a:xfrm>
          <a:prstGeom prst="rect">
            <a:avLst/>
          </a:prstGeom>
          <a:solidFill>
            <a:srgbClr val="12100F"/>
          </a:solidFill>
          <a:ln w="12700" cap="flat" cmpd="sng">
            <a:solidFill>
              <a:srgbClr val="12100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2" name="Google Shape;202;p5"/>
          <p:cNvCxnSpPr/>
          <p:nvPr/>
        </p:nvCxnSpPr>
        <p:spPr>
          <a:xfrm>
            <a:off x="8321040" y="777240"/>
            <a:ext cx="0" cy="5120640"/>
          </a:xfrm>
          <a:prstGeom prst="straightConnector1">
            <a:avLst/>
          </a:prstGeom>
          <a:noFill/>
          <a:ln w="19050" cap="flat" cmpd="sng">
            <a:solidFill>
              <a:srgbClr val="FFFFFF">
                <a:alpha val="70196"/>
              </a:srgbClr>
            </a:solidFill>
            <a:prstDash val="dash"/>
            <a:round/>
            <a:headEnd type="none" w="sm" len="sm"/>
            <a:tailEnd type="none" w="sm" len="sm"/>
          </a:ln>
        </p:spPr>
      </p:cxnSp>
      <p:sp>
        <p:nvSpPr>
          <p:cNvPr id="203" name="Google Shape;203;p5"/>
          <p:cNvSpPr/>
          <p:nvPr/>
        </p:nvSpPr>
        <p:spPr>
          <a:xfrm>
            <a:off x="8193024" y="649224"/>
            <a:ext cx="256032" cy="256032"/>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5"/>
          <p:cNvSpPr/>
          <p:nvPr/>
        </p:nvSpPr>
        <p:spPr>
          <a:xfrm>
            <a:off x="8193024" y="5769864"/>
            <a:ext cx="256032" cy="256032"/>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5"/>
          <p:cNvSpPr/>
          <p:nvPr/>
        </p:nvSpPr>
        <p:spPr>
          <a:xfrm>
            <a:off x="6217920" y="1005840"/>
            <a:ext cx="1828800" cy="365760"/>
          </a:xfrm>
          <a:prstGeom prst="roundRect">
            <a:avLst>
              <a:gd name="adj" fmla="val 50000"/>
            </a:avLst>
          </a:prstGeom>
          <a:solidFill>
            <a:srgbClr val="FFFFFF">
              <a:alpha val="3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5"/>
          <p:cNvSpPr/>
          <p:nvPr/>
        </p:nvSpPr>
        <p:spPr>
          <a:xfrm>
            <a:off x="6217920" y="1005840"/>
            <a:ext cx="182880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E5B2"/>
              </a:buClr>
              <a:buSzPts val="900"/>
              <a:buFont typeface="Poppins"/>
              <a:buNone/>
            </a:pPr>
            <a:r>
              <a:rPr lang="en-US" sz="900" b="0" i="0" u="none" strike="noStrike" cap="none">
                <a:solidFill>
                  <a:srgbClr val="F4E5B2"/>
                </a:solidFill>
                <a:latin typeface="Poppins"/>
                <a:ea typeface="Poppins"/>
                <a:cs typeface="Poppins"/>
                <a:sym typeface="Poppins"/>
              </a:rPr>
              <a:t>ÉDITION LIMITÉE</a:t>
            </a:r>
            <a:endParaRPr sz="900" b="0" i="0" u="none" strike="noStrike" cap="none">
              <a:solidFill>
                <a:schemeClr val="dk1"/>
              </a:solidFill>
              <a:latin typeface="Calibri"/>
              <a:ea typeface="Calibri"/>
              <a:cs typeface="Calibri"/>
              <a:sym typeface="Calibri"/>
            </a:endParaRPr>
          </a:p>
        </p:txBody>
      </p:sp>
      <p:pic>
        <p:nvPicPr>
          <p:cNvPr id="207" name="Google Shape;207;p5" descr="/home/claude/gala/pptx/ribbon_pink.png"/>
          <p:cNvPicPr preferRelativeResize="0"/>
          <p:nvPr/>
        </p:nvPicPr>
        <p:blipFill rotWithShape="1">
          <a:blip r:embed="rId3">
            <a:alphaModFix/>
          </a:blip>
          <a:srcRect/>
          <a:stretch/>
        </p:blipFill>
        <p:spPr>
          <a:xfrm>
            <a:off x="777240" y="1051560"/>
            <a:ext cx="201168" cy="265176"/>
          </a:xfrm>
          <a:prstGeom prst="rect">
            <a:avLst/>
          </a:prstGeom>
          <a:noFill/>
          <a:ln>
            <a:noFill/>
          </a:ln>
        </p:spPr>
      </p:pic>
      <p:sp>
        <p:nvSpPr>
          <p:cNvPr id="208" name="Google Shape;208;p5"/>
          <p:cNvSpPr/>
          <p:nvPr/>
        </p:nvSpPr>
        <p:spPr>
          <a:xfrm>
            <a:off x="1051560" y="996696"/>
            <a:ext cx="3657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4E5B2"/>
              </a:buClr>
              <a:buSzPts val="1400"/>
              <a:buFont typeface="Georgia"/>
              <a:buNone/>
            </a:pPr>
            <a:r>
              <a:rPr lang="en-US" sz="1400" b="0" i="1" u="none" strike="noStrike" cap="none">
                <a:solidFill>
                  <a:srgbClr val="F4E5B2"/>
                </a:solidFill>
                <a:latin typeface="Georgia"/>
                <a:ea typeface="Georgia"/>
                <a:cs typeface="Georgia"/>
                <a:sym typeface="Georgia"/>
              </a:rPr>
              <a:t>Cœur en Rose</a:t>
            </a:r>
            <a:endParaRPr sz="1400" b="0" i="0" u="none" strike="noStrike" cap="none">
              <a:solidFill>
                <a:schemeClr val="dk1"/>
              </a:solidFill>
              <a:latin typeface="Calibri"/>
              <a:ea typeface="Calibri"/>
              <a:cs typeface="Calibri"/>
              <a:sym typeface="Calibri"/>
            </a:endParaRPr>
          </a:p>
        </p:txBody>
      </p:sp>
      <p:sp>
        <p:nvSpPr>
          <p:cNvPr id="209" name="Google Shape;209;p5"/>
          <p:cNvSpPr/>
          <p:nvPr/>
        </p:nvSpPr>
        <p:spPr>
          <a:xfrm>
            <a:off x="1051560" y="1271016"/>
            <a:ext cx="6949440"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4E5B2"/>
              </a:buClr>
              <a:buSzPts val="800"/>
              <a:buFont typeface="Poppins"/>
              <a:buNone/>
            </a:pPr>
            <a:r>
              <a:rPr lang="en-US" sz="800" b="0" i="0" u="none" strike="noStrike" cap="none">
                <a:solidFill>
                  <a:srgbClr val="F4E5B2"/>
                </a:solidFill>
                <a:latin typeface="Poppins"/>
                <a:ea typeface="Poppins"/>
                <a:cs typeface="Poppins"/>
                <a:sym typeface="Poppins"/>
              </a:rPr>
              <a:t>GALA SOLIDAIRE · COTONOU · OCT. 2026</a:t>
            </a:r>
            <a:endParaRPr sz="800" b="0" i="0" u="none" strike="noStrike" cap="none">
              <a:solidFill>
                <a:schemeClr val="dk1"/>
              </a:solidFill>
              <a:latin typeface="Calibri"/>
              <a:ea typeface="Calibri"/>
              <a:cs typeface="Calibri"/>
              <a:sym typeface="Calibri"/>
            </a:endParaRPr>
          </a:p>
        </p:txBody>
      </p:sp>
      <p:sp>
        <p:nvSpPr>
          <p:cNvPr id="210" name="Google Shape;210;p5"/>
          <p:cNvSpPr/>
          <p:nvPr/>
        </p:nvSpPr>
        <p:spPr>
          <a:xfrm>
            <a:off x="777240" y="1645920"/>
            <a:ext cx="722376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4E5B2"/>
              </a:buClr>
              <a:buSzPts val="3000"/>
              <a:buFont typeface="Georgia"/>
              <a:buNone/>
            </a:pPr>
            <a:r>
              <a:rPr lang="en-US" sz="3000" b="0" i="1" u="none" strike="noStrike" cap="none">
                <a:solidFill>
                  <a:srgbClr val="F4E5B2"/>
                </a:solidFill>
                <a:latin typeface="Georgia"/>
                <a:ea typeface="Georgia"/>
                <a:cs typeface="Georgia"/>
                <a:sym typeface="Georgia"/>
              </a:rPr>
              <a:t>Marraine / Parrain</a:t>
            </a:r>
            <a:endParaRPr sz="3000" b="0" i="0" u="none" strike="noStrike" cap="none">
              <a:solidFill>
                <a:schemeClr val="dk1"/>
              </a:solidFill>
              <a:latin typeface="Calibri"/>
              <a:ea typeface="Calibri"/>
              <a:cs typeface="Calibri"/>
              <a:sym typeface="Calibri"/>
            </a:endParaRPr>
          </a:p>
        </p:txBody>
      </p:sp>
      <p:sp>
        <p:nvSpPr>
          <p:cNvPr id="211" name="Google Shape;211;p5"/>
          <p:cNvSpPr/>
          <p:nvPr/>
        </p:nvSpPr>
        <p:spPr>
          <a:xfrm>
            <a:off x="777240" y="2167128"/>
            <a:ext cx="740664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4E5B2"/>
              </a:buClr>
              <a:buSzPts val="1000"/>
              <a:buFont typeface="Poppins"/>
              <a:buNone/>
            </a:pPr>
            <a:r>
              <a:rPr lang="en-US" sz="1000" b="0" i="0" u="none" strike="noStrike" cap="none">
                <a:solidFill>
                  <a:srgbClr val="F4E5B2"/>
                </a:solidFill>
                <a:latin typeface="Poppins"/>
                <a:ea typeface="Poppins"/>
                <a:cs typeface="Poppins"/>
                <a:sym typeface="Poppins"/>
              </a:rPr>
              <a:t>TICKET D'HONNEUR · PLACES TRÈS LIMITÉES</a:t>
            </a:r>
            <a:endParaRPr sz="1000" b="0" i="0" u="none" strike="noStrike" cap="none">
              <a:solidFill>
                <a:schemeClr val="dk1"/>
              </a:solidFill>
              <a:latin typeface="Calibri"/>
              <a:ea typeface="Calibri"/>
              <a:cs typeface="Calibri"/>
              <a:sym typeface="Calibri"/>
            </a:endParaRPr>
          </a:p>
        </p:txBody>
      </p:sp>
      <p:sp>
        <p:nvSpPr>
          <p:cNvPr id="212" name="Google Shape;212;p5"/>
          <p:cNvSpPr/>
          <p:nvPr/>
        </p:nvSpPr>
        <p:spPr>
          <a:xfrm>
            <a:off x="777240" y="2606040"/>
            <a:ext cx="7223760" cy="237744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F4E5B2"/>
              </a:buClr>
              <a:buSzPts val="1200"/>
              <a:buFont typeface="Poppins"/>
              <a:buChar char="—"/>
            </a:pPr>
            <a:r>
              <a:rPr lang="en-US" sz="1200" b="0" i="0" u="none" strike="noStrike" cap="none">
                <a:solidFill>
                  <a:srgbClr val="F4E5B2"/>
                </a:solidFill>
                <a:latin typeface="Poppins"/>
                <a:ea typeface="Poppins"/>
                <a:cs typeface="Poppins"/>
                <a:sym typeface="Poppins"/>
              </a:rPr>
              <a:t>Tous les avantages « Cœur d'Or »</a:t>
            </a:r>
            <a:endParaRPr sz="12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F4E5B2"/>
              </a:buClr>
              <a:buSzPts val="1200"/>
              <a:buFont typeface="Poppins"/>
              <a:buChar char="—"/>
            </a:pPr>
            <a:r>
              <a:rPr lang="en-US" sz="1200" b="0" i="0" u="none" strike="noStrike" cap="none">
                <a:solidFill>
                  <a:srgbClr val="F4E5B2"/>
                </a:solidFill>
                <a:latin typeface="Poppins"/>
                <a:ea typeface="Poppins"/>
                <a:cs typeface="Poppins"/>
                <a:sym typeface="Poppins"/>
              </a:rPr>
              <a:t>Parrainage symbolique d'une femme bénéficiaire</a:t>
            </a:r>
            <a:endParaRPr sz="12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F4E5B2"/>
              </a:buClr>
              <a:buSzPts val="1200"/>
              <a:buFont typeface="Poppins"/>
              <a:buChar char="—"/>
            </a:pPr>
            <a:r>
              <a:rPr lang="en-US" sz="1200" b="0" i="0" u="none" strike="noStrike" cap="none">
                <a:solidFill>
                  <a:srgbClr val="F4E5B2"/>
                </a:solidFill>
                <a:latin typeface="Poppins"/>
                <a:ea typeface="Poppins"/>
                <a:cs typeface="Poppins"/>
                <a:sym typeface="Poppins"/>
              </a:rPr>
              <a:t>Rapport de suivi personnalisé après l'événement</a:t>
            </a:r>
            <a:endParaRPr sz="12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F4E5B2"/>
              </a:buClr>
              <a:buSzPts val="1200"/>
              <a:buFont typeface="Poppins"/>
              <a:buChar char="—"/>
            </a:pPr>
            <a:r>
              <a:rPr lang="en-US" sz="1200" b="0" i="0" u="none" strike="noStrike" cap="none">
                <a:solidFill>
                  <a:srgbClr val="F4E5B2"/>
                </a:solidFill>
                <a:latin typeface="Poppins"/>
                <a:ea typeface="Poppins"/>
                <a:cs typeface="Poppins"/>
                <a:sym typeface="Poppins"/>
              </a:rPr>
              <a:t>Nom associé au projet pendant toute l'année</a:t>
            </a:r>
            <a:endParaRPr sz="12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F4E5B2"/>
              </a:buClr>
              <a:buSzPts val="1200"/>
              <a:buFont typeface="Poppins"/>
              <a:buChar char="—"/>
            </a:pPr>
            <a:r>
              <a:rPr lang="en-US" sz="1200" b="0" i="0" u="none" strike="noStrike" cap="none">
                <a:solidFill>
                  <a:srgbClr val="F4E5B2"/>
                </a:solidFill>
                <a:latin typeface="Poppins"/>
                <a:ea typeface="Poppins"/>
                <a:cs typeface="Poppins"/>
                <a:sym typeface="Poppins"/>
              </a:rPr>
              <a:t>Invitation prioritaire à l'édition suivante</a:t>
            </a:r>
            <a:endParaRPr sz="1200" b="0" i="0" u="none" strike="noStrike" cap="none">
              <a:solidFill>
                <a:schemeClr val="dk1"/>
              </a:solidFill>
              <a:latin typeface="Calibri"/>
              <a:ea typeface="Calibri"/>
              <a:cs typeface="Calibri"/>
              <a:sym typeface="Calibri"/>
            </a:endParaRPr>
          </a:p>
        </p:txBody>
      </p:sp>
      <p:sp>
        <p:nvSpPr>
          <p:cNvPr id="213" name="Google Shape;213;p5"/>
          <p:cNvSpPr/>
          <p:nvPr/>
        </p:nvSpPr>
        <p:spPr>
          <a:xfrm>
            <a:off x="777240" y="5486400"/>
            <a:ext cx="5111496"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4E5B2"/>
              </a:buClr>
              <a:buSzPts val="800"/>
              <a:buFont typeface="Poppins"/>
              <a:buNone/>
            </a:pPr>
            <a:r>
              <a:rPr lang="en-US" sz="800" b="0" i="0" u="none" strike="noStrike" cap="none">
                <a:solidFill>
                  <a:srgbClr val="F4E5B2"/>
                </a:solidFill>
                <a:latin typeface="Poppins"/>
                <a:ea typeface="Poppins"/>
                <a:cs typeface="Poppins"/>
                <a:sym typeface="Poppins"/>
              </a:rPr>
              <a:t>UN DON, UN EXAMEN, UNE VIE SAUVÉE</a:t>
            </a:r>
            <a:endParaRPr sz="800" b="0" i="0" u="none" strike="noStrike" cap="none">
              <a:solidFill>
                <a:schemeClr val="dk1"/>
              </a:solidFill>
              <a:latin typeface="Calibri"/>
              <a:ea typeface="Calibri"/>
              <a:cs typeface="Calibri"/>
              <a:sym typeface="Calibri"/>
            </a:endParaRPr>
          </a:p>
        </p:txBody>
      </p:sp>
      <p:sp>
        <p:nvSpPr>
          <p:cNvPr id="214" name="Google Shape;214;p5"/>
          <p:cNvSpPr/>
          <p:nvPr/>
        </p:nvSpPr>
        <p:spPr>
          <a:xfrm>
            <a:off x="5669280" y="5486400"/>
            <a:ext cx="233172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F4E5B2"/>
              </a:buClr>
              <a:buSzPts val="800"/>
              <a:buFont typeface="Poppins"/>
              <a:buNone/>
            </a:pPr>
            <a:r>
              <a:rPr lang="en-US" sz="800" b="0" i="0" u="none" strike="noStrike" cap="none">
                <a:solidFill>
                  <a:srgbClr val="F4E5B2"/>
                </a:solidFill>
                <a:latin typeface="Poppins"/>
                <a:ea typeface="Poppins"/>
                <a:cs typeface="Poppins"/>
                <a:sym typeface="Poppins"/>
              </a:rPr>
              <a:t>BILLET N° ______</a:t>
            </a:r>
            <a:endParaRPr sz="800" b="0" i="0" u="none" strike="noStrike" cap="none">
              <a:solidFill>
                <a:schemeClr val="dk1"/>
              </a:solidFill>
              <a:latin typeface="Calibri"/>
              <a:ea typeface="Calibri"/>
              <a:cs typeface="Calibri"/>
              <a:sym typeface="Calibri"/>
            </a:endParaRPr>
          </a:p>
        </p:txBody>
      </p:sp>
      <p:sp>
        <p:nvSpPr>
          <p:cNvPr id="215" name="Google Shape;215;p5"/>
          <p:cNvSpPr/>
          <p:nvPr/>
        </p:nvSpPr>
        <p:spPr>
          <a:xfrm>
            <a:off x="8458200" y="1097280"/>
            <a:ext cx="329184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E5B2"/>
              </a:buClr>
              <a:buSzPts val="1100"/>
              <a:buFont typeface="Georgia"/>
              <a:buNone/>
            </a:pPr>
            <a:r>
              <a:rPr lang="en-US" sz="1100" b="0" i="1" u="none" strike="noStrike" cap="none">
                <a:solidFill>
                  <a:srgbClr val="F4E5B2"/>
                </a:solidFill>
                <a:latin typeface="Georgia"/>
                <a:ea typeface="Georgia"/>
                <a:cs typeface="Georgia"/>
                <a:sym typeface="Georgia"/>
              </a:rPr>
              <a:t>MARRAINE / PARRAIN</a:t>
            </a:r>
            <a:endParaRPr sz="1100" b="0" i="0" u="none" strike="noStrike" cap="none">
              <a:solidFill>
                <a:schemeClr val="dk1"/>
              </a:solidFill>
              <a:latin typeface="Calibri"/>
              <a:ea typeface="Calibri"/>
              <a:cs typeface="Calibri"/>
              <a:sym typeface="Calibri"/>
            </a:endParaRPr>
          </a:p>
        </p:txBody>
      </p:sp>
      <p:sp>
        <p:nvSpPr>
          <p:cNvPr id="216" name="Google Shape;216;p5"/>
          <p:cNvSpPr/>
          <p:nvPr/>
        </p:nvSpPr>
        <p:spPr>
          <a:xfrm>
            <a:off x="8458200" y="1691640"/>
            <a:ext cx="329184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E5B2"/>
              </a:buClr>
              <a:buSzPts val="2200"/>
              <a:buFont typeface="Georgia"/>
              <a:buNone/>
            </a:pPr>
            <a:r>
              <a:rPr lang="en-US" sz="2200" b="1" i="0" u="none" strike="noStrike" cap="none">
                <a:solidFill>
                  <a:srgbClr val="F4E5B2"/>
                </a:solidFill>
                <a:latin typeface="Georgia"/>
                <a:ea typeface="Georgia"/>
                <a:cs typeface="Georgia"/>
                <a:sym typeface="Georgia"/>
              </a:rPr>
              <a:t>300 000–500 000 FCFA</a:t>
            </a:r>
            <a:endParaRPr sz="2200" b="0" i="0" u="none" strike="noStrike" cap="none">
              <a:solidFill>
                <a:schemeClr val="dk1"/>
              </a:solidFill>
              <a:latin typeface="Calibri"/>
              <a:ea typeface="Calibri"/>
              <a:cs typeface="Calibri"/>
              <a:sym typeface="Calibri"/>
            </a:endParaRPr>
          </a:p>
        </p:txBody>
      </p:sp>
      <p:sp>
        <p:nvSpPr>
          <p:cNvPr id="217" name="Google Shape;217;p5"/>
          <p:cNvSpPr/>
          <p:nvPr/>
        </p:nvSpPr>
        <p:spPr>
          <a:xfrm>
            <a:off x="8458200" y="2194560"/>
            <a:ext cx="329184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900"/>
              <a:buFont typeface="Calibri"/>
              <a:buNone/>
            </a:pPr>
            <a:endParaRPr sz="900" b="0" i="0" u="none" strike="noStrike" cap="none">
              <a:solidFill>
                <a:schemeClr val="dk1"/>
              </a:solidFill>
              <a:latin typeface="Calibri"/>
              <a:ea typeface="Calibri"/>
              <a:cs typeface="Calibri"/>
              <a:sym typeface="Calibri"/>
            </a:endParaRPr>
          </a:p>
        </p:txBody>
      </p:sp>
      <p:sp>
        <p:nvSpPr>
          <p:cNvPr id="218" name="Google Shape;218;p5"/>
          <p:cNvSpPr/>
          <p:nvPr/>
        </p:nvSpPr>
        <p:spPr>
          <a:xfrm>
            <a:off x="8458200" y="2560320"/>
            <a:ext cx="329184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E5B2"/>
              </a:buClr>
              <a:buSzPts val="1000"/>
              <a:buFont typeface="Poppins"/>
              <a:buNone/>
            </a:pPr>
            <a:r>
              <a:rPr lang="en-US" sz="1000" b="1" i="0" u="none" strike="noStrike" cap="none">
                <a:solidFill>
                  <a:srgbClr val="F4E5B2"/>
                </a:solidFill>
                <a:latin typeface="Poppins"/>
                <a:ea typeface="Poppins"/>
                <a:cs typeface="Poppins"/>
                <a:sym typeface="Poppins"/>
              </a:rPr>
              <a:t>Places : 4 à 5 max.</a:t>
            </a:r>
            <a:endParaRPr sz="1000" b="0" i="0" u="none" strike="noStrike" cap="none">
              <a:solidFill>
                <a:schemeClr val="dk1"/>
              </a:solidFill>
              <a:latin typeface="Calibri"/>
              <a:ea typeface="Calibri"/>
              <a:cs typeface="Calibri"/>
              <a:sym typeface="Calibri"/>
            </a:endParaRPr>
          </a:p>
        </p:txBody>
      </p:sp>
      <p:sp>
        <p:nvSpPr>
          <p:cNvPr id="239" name="Google Shape;239;p5"/>
          <p:cNvSpPr/>
          <p:nvPr/>
        </p:nvSpPr>
        <p:spPr>
          <a:xfrm>
            <a:off x="8366760" y="4206240"/>
            <a:ext cx="338328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E5B2"/>
              </a:buClr>
              <a:buSzPts val="800"/>
              <a:buFont typeface="Poppins"/>
              <a:buNone/>
            </a:pPr>
            <a:r>
              <a:rPr lang="en-US" sz="800" b="0" i="0" u="none" strike="noStrike" cap="none">
                <a:solidFill>
                  <a:srgbClr val="F4E5B2"/>
                </a:solidFill>
                <a:latin typeface="Poppins"/>
                <a:ea typeface="Poppins"/>
                <a:cs typeface="Poppins"/>
                <a:sym typeface="Poppins"/>
              </a:rPr>
              <a:t>CER-MP-2026</a:t>
            </a:r>
            <a:endParaRPr sz="800" b="0" i="0" u="none" strike="noStrike" cap="none">
              <a:solidFill>
                <a:schemeClr val="dk1"/>
              </a:solidFill>
              <a:latin typeface="Calibri"/>
              <a:ea typeface="Calibri"/>
              <a:cs typeface="Calibri"/>
              <a:sym typeface="Calibri"/>
            </a:endParaRPr>
          </a:p>
        </p:txBody>
      </p:sp>
      <p:pic>
        <p:nvPicPr>
          <p:cNvPr id="240" name="Picture 239" descr="qr_CER-MP-2026.png"/>
          <p:cNvPicPr>
            <a:picLocks noChangeAspect="1"/>
          </p:cNvPicPr>
          <p:nvPr/>
        </p:nvPicPr>
        <p:blipFill>
          <a:blip r:embed="rId4"/>
          <a:stretch>
            <a:fillRect/>
          </a:stretch>
        </p:blipFill>
        <p:spPr>
          <a:xfrm>
            <a:off x="9578340" y="3063240"/>
            <a:ext cx="1005840" cy="10058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0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295400" y="777240"/>
            <a:ext cx="9601200" cy="5303520"/>
          </a:xfrm>
          <a:prstGeom prst="roundRect">
            <a:avLst/>
          </a:prstGeom>
          <a:solidFill>
            <a:srgbClr val="1A0C2A"/>
          </a:solidFill>
          <a:ln w="317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44040" y="1234440"/>
            <a:ext cx="8503920" cy="731520"/>
          </a:xfrm>
          <a:prstGeom prst="rect">
            <a:avLst/>
          </a:prstGeom>
          <a:noFill/>
        </p:spPr>
        <p:txBody>
          <a:bodyPr wrap="square">
            <a:spAutoFit/>
          </a:bodyPr>
          <a:lstStyle/>
          <a:p>
            <a:pPr>
              <a:defRPr sz="1300" b="1">
                <a:solidFill>
                  <a:srgbClr val="FBBF24"/>
                </a:solidFill>
                <a:latin typeface="Georgia"/>
              </a:defRPr>
            </a:pPr>
            <a:r>
              <a:t>REPROD’ACTION SANTÉ  ·  GALA SOLIDAIRE CŒUR EN ROSE</a:t>
            </a:r>
          </a:p>
          <a:p>
            <a:pPr>
              <a:defRPr sz="1000" b="1">
                <a:solidFill>
                  <a:srgbClr val="FDA4AF"/>
                </a:solidFill>
                <a:latin typeface="Arial"/>
              </a:defRPr>
            </a:pPr>
            <a:r>
              <a:t>CARTE DE REMERCIEMENT OFFICIELLE  —  TICKET SOLIDAIRE</a:t>
            </a:r>
          </a:p>
        </p:txBody>
      </p:sp>
      <p:sp>
        <p:nvSpPr>
          <p:cNvPr id="5" name="TextBox 4"/>
          <p:cNvSpPr txBox="1"/>
          <p:nvPr/>
        </p:nvSpPr>
        <p:spPr>
          <a:xfrm>
            <a:off x="2026920" y="2240280"/>
            <a:ext cx="8138160" cy="2011680"/>
          </a:xfrm>
          <a:prstGeom prst="rect">
            <a:avLst/>
          </a:prstGeom>
          <a:noFill/>
        </p:spPr>
        <p:txBody>
          <a:bodyPr wrap="square">
            <a:spAutoFit/>
          </a:bodyPr>
          <a:lstStyle/>
          <a:p>
            <a:pPr>
              <a:spcAft>
                <a:spcPts val="1200"/>
              </a:spcAft>
              <a:defRPr i="1" sz="1600">
                <a:solidFill>
                  <a:srgbClr val="FDA4AF"/>
                </a:solidFill>
                <a:latin typeface="Georgia"/>
              </a:defRPr>
            </a:pPr>
            <a:r>
              <a:t>Chère participante, Cher participant,</a:t>
            </a:r>
          </a:p>
          <a:p>
            <a:pPr>
              <a:spcAft>
                <a:spcPts val="1600"/>
              </a:spcAft>
              <a:defRPr sz="1500">
                <a:solidFill>
                  <a:srgbClr val="FFFFFF"/>
                </a:solidFill>
                <a:latin typeface="Georgia"/>
              </a:defRPr>
            </a:pPr>
            <a:r>
              <a:t>Merci de faire partie de cette belle chaîne de solidarité. Par votre présence, vous donnez de la force et de l’espoir à toutes celles qui se battent contre le cancer du sein. Ensemble, nous sommes plus forts. Votre ticket solidaire est le premier maillon de cette chaîne: sans lui, rien ne serait possible. Merci de lancer l’élan.</a:t>
            </a:r>
          </a:p>
          <a:p>
            <a:pPr>
              <a:defRPr i="1" b="1" sz="1500">
                <a:solidFill>
                  <a:srgbClr val="FBBF24"/>
                </a:solidFill>
                <a:latin typeface="Georgia"/>
              </a:defRPr>
            </a:pPr>
            <a:r>
              <a:t>« « Ensemble, nous sommes plus forts. » »</a:t>
            </a:r>
          </a:p>
        </p:txBody>
      </p:sp>
      <p:sp>
        <p:nvSpPr>
          <p:cNvPr id="6" name="TextBox 5"/>
          <p:cNvSpPr txBox="1"/>
          <p:nvPr/>
        </p:nvSpPr>
        <p:spPr>
          <a:xfrm>
            <a:off x="2026920" y="4709160"/>
            <a:ext cx="8138160" cy="731520"/>
          </a:xfrm>
          <a:prstGeom prst="rect">
            <a:avLst/>
          </a:prstGeom>
          <a:noFill/>
        </p:spPr>
        <p:txBody>
          <a:bodyPr wrap="square">
            <a:spAutoFit/>
          </a:bodyPr>
          <a:lstStyle/>
          <a:p>
            <a:pPr>
              <a:defRPr sz="1100" b="1">
                <a:solidFill>
                  <a:srgbClr val="FDA4AF"/>
                </a:solidFill>
                <a:latin typeface="Arial"/>
              </a:defRPr>
            </a:pPr>
            <a:r>
              <a:t>BILLET : Ticket Standard « Solidaire »  ·  50 000 FCFA  ·  N° CER-STD-2026</a:t>
            </a:r>
          </a:p>
          <a:p>
            <a:pPr>
              <a:defRPr sz="1000">
                <a:solidFill>
                  <a:srgbClr val="CBD5E1"/>
                </a:solidFill>
                <a:latin typeface="Arial"/>
              </a:defRPr>
            </a:pPr>
            <a:r>
              <a:t>Slogan : UN DON, UN EXAMEN, UNE VIE SAUVÉE  —  Cotonou, Octobre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0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295400" y="777240"/>
            <a:ext cx="9601200" cy="5303520"/>
          </a:xfrm>
          <a:prstGeom prst="roundRect">
            <a:avLst/>
          </a:prstGeom>
          <a:solidFill>
            <a:srgbClr val="1A0C2A"/>
          </a:solidFill>
          <a:ln w="317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44040" y="1234440"/>
            <a:ext cx="8503920" cy="731520"/>
          </a:xfrm>
          <a:prstGeom prst="rect">
            <a:avLst/>
          </a:prstGeom>
          <a:noFill/>
        </p:spPr>
        <p:txBody>
          <a:bodyPr wrap="square">
            <a:spAutoFit/>
          </a:bodyPr>
          <a:lstStyle/>
          <a:p>
            <a:pPr>
              <a:defRPr sz="1300" b="1">
                <a:solidFill>
                  <a:srgbClr val="FBBF24"/>
                </a:solidFill>
                <a:latin typeface="Georgia"/>
              </a:defRPr>
            </a:pPr>
            <a:r>
              <a:t>REPROD’ACTION SANTÉ  ·  GALA SOLIDAIRE CŒUR EN ROSE</a:t>
            </a:r>
          </a:p>
          <a:p>
            <a:pPr>
              <a:defRPr sz="1000" b="1">
                <a:solidFill>
                  <a:srgbClr val="FDA4AF"/>
                </a:solidFill>
                <a:latin typeface="Arial"/>
              </a:defRPr>
            </a:pPr>
            <a:r>
              <a:t>CARTE DE REMERCIEMENT OFFICIELLE  —  TICKET ESPOIR</a:t>
            </a:r>
          </a:p>
        </p:txBody>
      </p:sp>
      <p:sp>
        <p:nvSpPr>
          <p:cNvPr id="5" name="TextBox 4"/>
          <p:cNvSpPr txBox="1"/>
          <p:nvPr/>
        </p:nvSpPr>
        <p:spPr>
          <a:xfrm>
            <a:off x="2026920" y="2240280"/>
            <a:ext cx="8138160" cy="2011680"/>
          </a:xfrm>
          <a:prstGeom prst="rect">
            <a:avLst/>
          </a:prstGeom>
          <a:noFill/>
        </p:spPr>
        <p:txBody>
          <a:bodyPr wrap="square">
            <a:spAutoFit/>
          </a:bodyPr>
          <a:lstStyle/>
          <a:p>
            <a:pPr>
              <a:spcAft>
                <a:spcPts val="1200"/>
              </a:spcAft>
              <a:defRPr i="1" sz="1600">
                <a:solidFill>
                  <a:srgbClr val="FDA4AF"/>
                </a:solidFill>
                <a:latin typeface="Georgia"/>
              </a:defRPr>
            </a:pPr>
            <a:r>
              <a:t>Chère participante, Cher participant,</a:t>
            </a:r>
          </a:p>
          <a:p>
            <a:pPr>
              <a:spcAft>
                <a:spcPts val="1600"/>
              </a:spcAft>
              <a:defRPr sz="1500">
                <a:solidFill>
                  <a:srgbClr val="FFFFFF"/>
                </a:solidFill>
                <a:latin typeface="Georgia"/>
              </a:defRPr>
            </a:pPr>
            <a:r>
              <a:t>Merci de faire partie de cette belle chaîne de solidarité. Par votre présence, vous donnez de la force et de l’espoir à toutes celles qui se battent contre le cancer du sein. Ensemble, nous sommes plus forts. Votre ticket espoir est une lumière pour celles qui en ont besoin.</a:t>
            </a:r>
          </a:p>
          <a:p>
            <a:pPr>
              <a:defRPr i="1" b="1" sz="1500">
                <a:solidFill>
                  <a:srgbClr val="FBBF24"/>
                </a:solidFill>
                <a:latin typeface="Georgia"/>
              </a:defRPr>
            </a:pPr>
            <a:r>
              <a:t>« « Votre geste est un rayon d'espoir. » »</a:t>
            </a:r>
          </a:p>
        </p:txBody>
      </p:sp>
      <p:sp>
        <p:nvSpPr>
          <p:cNvPr id="6" name="TextBox 5"/>
          <p:cNvSpPr txBox="1"/>
          <p:nvPr/>
        </p:nvSpPr>
        <p:spPr>
          <a:xfrm>
            <a:off x="2026920" y="4709160"/>
            <a:ext cx="8138160" cy="731520"/>
          </a:xfrm>
          <a:prstGeom prst="rect">
            <a:avLst/>
          </a:prstGeom>
          <a:noFill/>
        </p:spPr>
        <p:txBody>
          <a:bodyPr wrap="square">
            <a:spAutoFit/>
          </a:bodyPr>
          <a:lstStyle/>
          <a:p>
            <a:pPr>
              <a:defRPr sz="1100" b="1">
                <a:solidFill>
                  <a:srgbClr val="FDA4AF"/>
                </a:solidFill>
                <a:latin typeface="Arial"/>
              </a:defRPr>
            </a:pPr>
            <a:r>
              <a:t>BILLET : Ticket VIP « Espoir »  ·  100 000 FCFA  ·  N° CER-VIP-2026</a:t>
            </a:r>
          </a:p>
          <a:p>
            <a:pPr>
              <a:defRPr sz="1000">
                <a:solidFill>
                  <a:srgbClr val="CBD5E1"/>
                </a:solidFill>
                <a:latin typeface="Arial"/>
              </a:defRPr>
            </a:pPr>
            <a:r>
              <a:t>Slogan : UN DON, UN EXAMEN, UNE VIE SAUVÉE  —  Cotonou, Octobre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0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295400" y="777240"/>
            <a:ext cx="9601200" cy="5303520"/>
          </a:xfrm>
          <a:prstGeom prst="roundRect">
            <a:avLst/>
          </a:prstGeom>
          <a:solidFill>
            <a:srgbClr val="1A0C2A"/>
          </a:solidFill>
          <a:ln w="317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44040" y="1234440"/>
            <a:ext cx="8503920" cy="731520"/>
          </a:xfrm>
          <a:prstGeom prst="rect">
            <a:avLst/>
          </a:prstGeom>
          <a:noFill/>
        </p:spPr>
        <p:txBody>
          <a:bodyPr wrap="square">
            <a:spAutoFit/>
          </a:bodyPr>
          <a:lstStyle/>
          <a:p>
            <a:pPr>
              <a:defRPr sz="1300" b="1">
                <a:solidFill>
                  <a:srgbClr val="FBBF24"/>
                </a:solidFill>
                <a:latin typeface="Georgia"/>
              </a:defRPr>
            </a:pPr>
            <a:r>
              <a:t>REPROD’ACTION SANTÉ  ·  GALA SOLIDAIRE CŒUR EN ROSE</a:t>
            </a:r>
          </a:p>
          <a:p>
            <a:pPr>
              <a:defRPr sz="1000" b="1">
                <a:solidFill>
                  <a:srgbClr val="FDA4AF"/>
                </a:solidFill>
                <a:latin typeface="Arial"/>
              </a:defRPr>
            </a:pPr>
            <a:r>
              <a:t>CARTE DE REMERCIEMENT OFFICIELLE  —  TICKET CŒUR D’OR</a:t>
            </a:r>
          </a:p>
        </p:txBody>
      </p:sp>
      <p:sp>
        <p:nvSpPr>
          <p:cNvPr id="5" name="TextBox 4"/>
          <p:cNvSpPr txBox="1"/>
          <p:nvPr/>
        </p:nvSpPr>
        <p:spPr>
          <a:xfrm>
            <a:off x="2026920" y="2240280"/>
            <a:ext cx="8138160" cy="2011680"/>
          </a:xfrm>
          <a:prstGeom prst="rect">
            <a:avLst/>
          </a:prstGeom>
          <a:noFill/>
        </p:spPr>
        <p:txBody>
          <a:bodyPr wrap="square">
            <a:spAutoFit/>
          </a:bodyPr>
          <a:lstStyle/>
          <a:p>
            <a:pPr>
              <a:spcAft>
                <a:spcPts val="1200"/>
              </a:spcAft>
              <a:defRPr i="1" sz="1600">
                <a:solidFill>
                  <a:srgbClr val="FDA4AF"/>
                </a:solidFill>
                <a:latin typeface="Georgia"/>
              </a:defRPr>
            </a:pPr>
            <a:r>
              <a:t>Chère participante, Cher participant,</a:t>
            </a:r>
          </a:p>
          <a:p>
            <a:pPr>
              <a:spcAft>
                <a:spcPts val="1600"/>
              </a:spcAft>
              <a:defRPr sz="1500">
                <a:solidFill>
                  <a:srgbClr val="FFFFFF"/>
                </a:solidFill>
                <a:latin typeface="Georgia"/>
              </a:defRPr>
            </a:pPr>
            <a:r>
              <a:t>Merci de faire partie de cette belle chaîne de solidarité. Par votre présence, vous donnez de la force et de l’espoir à toutes celles qui se battent contre le cancer du sein. Ensemble, nous sommes plus forts. Votre générosité a un cœur en or, merci.</a:t>
            </a:r>
          </a:p>
          <a:p>
            <a:pPr>
              <a:defRPr i="1" b="1" sz="1500">
                <a:solidFill>
                  <a:srgbClr val="FBBF24"/>
                </a:solidFill>
                <a:latin typeface="Georgia"/>
              </a:defRPr>
            </a:pPr>
            <a:r>
              <a:t>« « Votre générosité a un cœur en or. » »</a:t>
            </a:r>
          </a:p>
        </p:txBody>
      </p:sp>
      <p:sp>
        <p:nvSpPr>
          <p:cNvPr id="6" name="TextBox 5"/>
          <p:cNvSpPr txBox="1"/>
          <p:nvPr/>
        </p:nvSpPr>
        <p:spPr>
          <a:xfrm>
            <a:off x="2026920" y="4709160"/>
            <a:ext cx="8138160" cy="731520"/>
          </a:xfrm>
          <a:prstGeom prst="rect">
            <a:avLst/>
          </a:prstGeom>
          <a:noFill/>
        </p:spPr>
        <p:txBody>
          <a:bodyPr wrap="square">
            <a:spAutoFit/>
          </a:bodyPr>
          <a:lstStyle/>
          <a:p>
            <a:pPr>
              <a:defRPr sz="1100" b="1">
                <a:solidFill>
                  <a:srgbClr val="FDA4AF"/>
                </a:solidFill>
                <a:latin typeface="Arial"/>
              </a:defRPr>
            </a:pPr>
            <a:r>
              <a:t>BILLET : Ticket Prestige « Cœur d'Or »  ·  150 000 FCFA  ·  N° CER-OR-2026</a:t>
            </a:r>
          </a:p>
          <a:p>
            <a:pPr>
              <a:defRPr sz="1000">
                <a:solidFill>
                  <a:srgbClr val="CBD5E1"/>
                </a:solidFill>
                <a:latin typeface="Arial"/>
              </a:defRPr>
            </a:pPr>
            <a:r>
              <a:t>Slogan : UN DON, UN EXAMEN, UNE VIE SAUVÉE  —  Cotonou, Octobre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0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295400" y="777240"/>
            <a:ext cx="9601200" cy="5303520"/>
          </a:xfrm>
          <a:prstGeom prst="roundRect">
            <a:avLst/>
          </a:prstGeom>
          <a:solidFill>
            <a:srgbClr val="1A0C2A"/>
          </a:solidFill>
          <a:ln w="317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44040" y="1234440"/>
            <a:ext cx="8503920" cy="731520"/>
          </a:xfrm>
          <a:prstGeom prst="rect">
            <a:avLst/>
          </a:prstGeom>
          <a:noFill/>
        </p:spPr>
        <p:txBody>
          <a:bodyPr wrap="square">
            <a:spAutoFit/>
          </a:bodyPr>
          <a:lstStyle/>
          <a:p>
            <a:pPr>
              <a:defRPr sz="1300" b="1">
                <a:solidFill>
                  <a:srgbClr val="FBBF24"/>
                </a:solidFill>
                <a:latin typeface="Georgia"/>
              </a:defRPr>
            </a:pPr>
            <a:r>
              <a:t>REPROD’ACTION SANTÉ  ·  GALA SOLIDAIRE CŒUR EN ROSE</a:t>
            </a:r>
          </a:p>
          <a:p>
            <a:pPr>
              <a:defRPr sz="1000" b="1">
                <a:solidFill>
                  <a:srgbClr val="FDA4AF"/>
                </a:solidFill>
                <a:latin typeface="Arial"/>
              </a:defRPr>
            </a:pPr>
            <a:r>
              <a:t>CARTE DE REMERCIEMENT OFFICIELLE  —  TICKET PARTENAIRE</a:t>
            </a:r>
          </a:p>
        </p:txBody>
      </p:sp>
      <p:sp>
        <p:nvSpPr>
          <p:cNvPr id="5" name="TextBox 4"/>
          <p:cNvSpPr txBox="1"/>
          <p:nvPr/>
        </p:nvSpPr>
        <p:spPr>
          <a:xfrm>
            <a:off x="2026920" y="2240280"/>
            <a:ext cx="8138160" cy="2011680"/>
          </a:xfrm>
          <a:prstGeom prst="rect">
            <a:avLst/>
          </a:prstGeom>
          <a:noFill/>
        </p:spPr>
        <p:txBody>
          <a:bodyPr wrap="square">
            <a:spAutoFit/>
          </a:bodyPr>
          <a:lstStyle/>
          <a:p>
            <a:pPr>
              <a:spcAft>
                <a:spcPts val="1200"/>
              </a:spcAft>
              <a:defRPr i="1" sz="1600">
                <a:solidFill>
                  <a:srgbClr val="FDA4AF"/>
                </a:solidFill>
                <a:latin typeface="Georgia"/>
              </a:defRPr>
            </a:pPr>
            <a:r>
              <a:t>Chère participante, Cher participant,</a:t>
            </a:r>
          </a:p>
          <a:p>
            <a:pPr>
              <a:spcAft>
                <a:spcPts val="1600"/>
              </a:spcAft>
              <a:defRPr sz="1500">
                <a:solidFill>
                  <a:srgbClr val="FFFFFF"/>
                </a:solidFill>
                <a:latin typeface="Georgia"/>
              </a:defRPr>
            </a:pPr>
            <a:r>
              <a:t>Merci de faire partie de cette belle chaîne de solidarité. Par votre présence, vous donnez de la force et de l’espoir à toutes celles qui se battent contre le cancer du sein. Ensemble, nous sommes plus forts. Merci de porter cette cause avec nous, vous faites rayonner la solidarité bien au-delà de cette soirée. Tous les héros ne portent pas de cape.</a:t>
            </a:r>
          </a:p>
          <a:p>
            <a:pPr>
              <a:defRPr i="1" b="1" sz="1500">
                <a:solidFill>
                  <a:srgbClr val="FBBF24"/>
                </a:solidFill>
                <a:latin typeface="Georgia"/>
              </a:defRPr>
            </a:pPr>
            <a:r>
              <a:t>« « Tous les héros ne portent pas de cape. » »</a:t>
            </a:r>
          </a:p>
        </p:txBody>
      </p:sp>
      <p:sp>
        <p:nvSpPr>
          <p:cNvPr id="6" name="TextBox 5"/>
          <p:cNvSpPr txBox="1"/>
          <p:nvPr/>
        </p:nvSpPr>
        <p:spPr>
          <a:xfrm>
            <a:off x="2026920" y="4709160"/>
            <a:ext cx="8138160" cy="731520"/>
          </a:xfrm>
          <a:prstGeom prst="rect">
            <a:avLst/>
          </a:prstGeom>
          <a:noFill/>
        </p:spPr>
        <p:txBody>
          <a:bodyPr wrap="square">
            <a:spAutoFit/>
          </a:bodyPr>
          <a:lstStyle/>
          <a:p>
            <a:pPr>
              <a:defRPr sz="1100" b="1">
                <a:solidFill>
                  <a:srgbClr val="FDA4AF"/>
                </a:solidFill>
                <a:latin typeface="Arial"/>
              </a:defRPr>
            </a:pPr>
            <a:r>
              <a:t>BILLET : Table Entreprise · Partenaire  ·  1 600 000 FCFA  ·  N° CER-TBL-2026</a:t>
            </a:r>
          </a:p>
          <a:p>
            <a:pPr>
              <a:defRPr sz="1000">
                <a:solidFill>
                  <a:srgbClr val="CBD5E1"/>
                </a:solidFill>
                <a:latin typeface="Arial"/>
              </a:defRPr>
            </a:pPr>
            <a:r>
              <a:t>Slogan : UN DON, UN EXAMEN, UNE VIE SAUVÉE  —  Cotonou, Octobre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0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295400" y="777240"/>
            <a:ext cx="9601200" cy="5303520"/>
          </a:xfrm>
          <a:prstGeom prst="roundRect">
            <a:avLst/>
          </a:prstGeom>
          <a:solidFill>
            <a:srgbClr val="1A0C2A"/>
          </a:solidFill>
          <a:ln w="317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44040" y="1234440"/>
            <a:ext cx="8503920" cy="731520"/>
          </a:xfrm>
          <a:prstGeom prst="rect">
            <a:avLst/>
          </a:prstGeom>
          <a:noFill/>
        </p:spPr>
        <p:txBody>
          <a:bodyPr wrap="square">
            <a:spAutoFit/>
          </a:bodyPr>
          <a:lstStyle/>
          <a:p>
            <a:pPr>
              <a:defRPr sz="1300" b="1">
                <a:solidFill>
                  <a:srgbClr val="FBBF24"/>
                </a:solidFill>
                <a:latin typeface="Georgia"/>
              </a:defRPr>
            </a:pPr>
            <a:r>
              <a:t>REPROD’ACTION SANTÉ  ·  GALA SOLIDAIRE CŒUR EN ROSE</a:t>
            </a:r>
          </a:p>
          <a:p>
            <a:pPr>
              <a:defRPr sz="1000" b="1">
                <a:solidFill>
                  <a:srgbClr val="FDA4AF"/>
                </a:solidFill>
                <a:latin typeface="Arial"/>
              </a:defRPr>
            </a:pPr>
            <a:r>
              <a:t>CARTE DE REMERCIEMENT OFFICIELLE  —  TICKET MARRAINE/PARRAIN</a:t>
            </a:r>
          </a:p>
        </p:txBody>
      </p:sp>
      <p:sp>
        <p:nvSpPr>
          <p:cNvPr id="5" name="TextBox 4"/>
          <p:cNvSpPr txBox="1"/>
          <p:nvPr/>
        </p:nvSpPr>
        <p:spPr>
          <a:xfrm>
            <a:off x="2026920" y="2240280"/>
            <a:ext cx="8138160" cy="2011680"/>
          </a:xfrm>
          <a:prstGeom prst="rect">
            <a:avLst/>
          </a:prstGeom>
          <a:noFill/>
        </p:spPr>
        <p:txBody>
          <a:bodyPr wrap="square">
            <a:spAutoFit/>
          </a:bodyPr>
          <a:lstStyle/>
          <a:p>
            <a:pPr>
              <a:spcAft>
                <a:spcPts val="1200"/>
              </a:spcAft>
              <a:defRPr i="1" sz="1600">
                <a:solidFill>
                  <a:srgbClr val="FDA4AF"/>
                </a:solidFill>
                <a:latin typeface="Georgia"/>
              </a:defRPr>
            </a:pPr>
            <a:r>
              <a:t>Chère participante, Cher participant,</a:t>
            </a:r>
          </a:p>
          <a:p>
            <a:pPr>
              <a:spcAft>
                <a:spcPts val="1600"/>
              </a:spcAft>
              <a:defRPr sz="1500">
                <a:solidFill>
                  <a:srgbClr val="FFFFFF"/>
                </a:solidFill>
                <a:latin typeface="Georgia"/>
              </a:defRPr>
            </a:pPr>
            <a:r>
              <a:t>Merci de faire partie de cette belle chaîne de solidarité. Par votre présence, vous donnez de la force et de l’espoir à toutes celles qui se battent contre le cancer du sein. Ensemble, nous sommes plus forts. Marraine et Parrain de coeur, vous êtes le visage de notre engagement. Merci de porter cette cause avec nous, et de lui donner tant d’élan.</a:t>
            </a:r>
          </a:p>
          <a:p>
            <a:pPr>
              <a:defRPr i="1" b="1" sz="1500">
                <a:solidFill>
                  <a:srgbClr val="FBBF24"/>
                </a:solidFill>
                <a:latin typeface="Georgia"/>
              </a:defRPr>
            </a:pPr>
            <a:r>
              <a:t>« « Vous êtes le visage de notre engagement. » »</a:t>
            </a:r>
          </a:p>
        </p:txBody>
      </p:sp>
      <p:sp>
        <p:nvSpPr>
          <p:cNvPr id="6" name="TextBox 5"/>
          <p:cNvSpPr txBox="1"/>
          <p:nvPr/>
        </p:nvSpPr>
        <p:spPr>
          <a:xfrm>
            <a:off x="2026920" y="4709160"/>
            <a:ext cx="8138160" cy="731520"/>
          </a:xfrm>
          <a:prstGeom prst="rect">
            <a:avLst/>
          </a:prstGeom>
          <a:noFill/>
        </p:spPr>
        <p:txBody>
          <a:bodyPr wrap="square">
            <a:spAutoFit/>
          </a:bodyPr>
          <a:lstStyle/>
          <a:p>
            <a:pPr>
              <a:defRPr sz="1100" b="1">
                <a:solidFill>
                  <a:srgbClr val="FDA4AF"/>
                </a:solidFill>
                <a:latin typeface="Arial"/>
              </a:defRPr>
            </a:pPr>
            <a:r>
              <a:t>BILLET : Marraine / Parrain d'Espoir  ·  300 000–500 000 FCFA  ·  N° CER-MP-2026</a:t>
            </a:r>
          </a:p>
          <a:p>
            <a:pPr>
              <a:defRPr sz="1000">
                <a:solidFill>
                  <a:srgbClr val="CBD5E1"/>
                </a:solidFill>
                <a:latin typeface="Arial"/>
              </a:defRPr>
            </a:pPr>
            <a:r>
              <a:t>Slogan : UN DON, UN EXAMEN, UNE VIE SAUVÉE  —  Cotonou, Octobre 2026</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Grand écran</PresentationFormat>
  <Slides>5</Slides>
  <Notes>5</Notes>
  <HiddenSlides>0</HiddenSlides>
  <ScaleCrop>false</ScaleCrop>
  <HeadingPairs>
    <vt:vector size="4" baseType="variant">
      <vt:variant>
        <vt:lpstr>Thème</vt:lpstr>
      </vt:variant>
      <vt:variant>
        <vt:i4>1</vt:i4>
      </vt:variant>
      <vt:variant>
        <vt:lpstr>Titres des diapositives</vt:lpstr>
      </vt:variant>
      <vt:variant>
        <vt:i4>5</vt:i4>
      </vt:variant>
    </vt:vector>
  </HeadingPairs>
  <TitlesOfParts>
    <vt:vector size="6" baseType="lpstr">
      <vt:lpstr>Office Theme</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PptxGenJS</dc:creator>
  <cp:lastModifiedBy>Amour Priscille AGUIAR</cp:lastModifiedBy>
  <cp:revision>1</cp:revision>
  <dcterms:created xsi:type="dcterms:W3CDTF">2026-08-14T01:41:58Z</dcterms:created>
  <dcterms:modified xsi:type="dcterms:W3CDTF">2026-10-19T08:51:17Z</dcterms:modified>
</cp:coreProperties>
</file>